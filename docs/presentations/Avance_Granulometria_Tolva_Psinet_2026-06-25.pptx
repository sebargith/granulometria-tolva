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430b1b84a04236" /><Relationship Type="http://schemas.openxmlformats.org/officeDocument/2006/relationships/extended-properties" Target="/docProps/app.xml" Id="R4e27fe315313470c" /><Relationship Type="http://schemas.openxmlformats.org/officeDocument/2006/relationships/officeDocument" Target="/ppt/presentation.xml" Id="R900a608d1588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21c0c204fd4911"/>
  </p:sldMasterIdLst>
  <p:notesMasterIdLst>
    <p:notesMasterId xmlns:r="http://schemas.openxmlformats.org/officeDocument/2006/relationships" r:id="R1f36c411859b4c33"/>
  </p:notesMasterIdLst>
  <p:sldIdLst>
    <p:sldId xmlns:r="http://schemas.openxmlformats.org/officeDocument/2006/relationships" id="256" r:id="R551ec5e7530041c8"/>
    <p:sldId xmlns:r="http://schemas.openxmlformats.org/officeDocument/2006/relationships" id="257" r:id="Rd739c8a5caef4d5b"/>
    <p:sldId xmlns:r="http://schemas.openxmlformats.org/officeDocument/2006/relationships" id="258" r:id="Rd0301a4c69604c13"/>
    <p:sldId xmlns:r="http://schemas.openxmlformats.org/officeDocument/2006/relationships" id="259" r:id="Rbfafd673be8348e6"/>
    <p:sldId xmlns:r="http://schemas.openxmlformats.org/officeDocument/2006/relationships" id="260" r:id="Rd5eec035c8704a35"/>
    <p:sldId xmlns:r="http://schemas.openxmlformats.org/officeDocument/2006/relationships" id="261" r:id="R0d444e29c66d47db"/>
    <p:sldId xmlns:r="http://schemas.openxmlformats.org/officeDocument/2006/relationships" id="262" r:id="Rc0d14e0ecafc44d7"/>
    <p:sldId xmlns:r="http://schemas.openxmlformats.org/officeDocument/2006/relationships" id="263" r:id="Rf0f633b3e2734cd0"/>
    <p:sldId xmlns:r="http://schemas.openxmlformats.org/officeDocument/2006/relationships" id="264" r:id="Rb37ce2901ff34c91"/>
    <p:sldId xmlns:r="http://schemas.openxmlformats.org/officeDocument/2006/relationships" id="265" r:id="R2887325e4cfe4b40"/>
    <p:sldId xmlns:r="http://schemas.openxmlformats.org/officeDocument/2006/relationships" id="266" r:id="R78047f304dbd40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b70351ef3a44a0" /><Relationship Type="http://schemas.openxmlformats.org/officeDocument/2006/relationships/slideMaster" Target="/ppt/slideMasters/slideMaster1.xml" Id="R1b21c0c204fd4911" /><Relationship Type="http://schemas.openxmlformats.org/officeDocument/2006/relationships/notesMaster" Target="/ppt/notesMasters/notesMaster1.xml" Id="R1f36c411859b4c33" /><Relationship Type="http://schemas.openxmlformats.org/officeDocument/2006/relationships/presProps" Target="/ppt/presProps.xml" Id="R73d3375c7a4c4cb1" /><Relationship Type="http://schemas.openxmlformats.org/officeDocument/2006/relationships/tableStyles" Target="/ppt/tableStyles.xml" Id="R3ebaab55ba5d4289" /><Relationship Type="http://schemas.openxmlformats.org/officeDocument/2006/relationships/slide" Target="/ppt/slides/slide1.xml" Id="R551ec5e7530041c8" /><Relationship Type="http://schemas.openxmlformats.org/officeDocument/2006/relationships/slide" Target="/ppt/slides/slide2.xml" Id="Rd739c8a5caef4d5b" /><Relationship Type="http://schemas.openxmlformats.org/officeDocument/2006/relationships/slide" Target="/ppt/slides/slide3.xml" Id="Rd0301a4c69604c13" /><Relationship Type="http://schemas.openxmlformats.org/officeDocument/2006/relationships/slide" Target="/ppt/slides/slide4.xml" Id="Rbfafd673be8348e6" /><Relationship Type="http://schemas.openxmlformats.org/officeDocument/2006/relationships/slide" Target="/ppt/slides/slide5.xml" Id="Rd5eec035c8704a35" /><Relationship Type="http://schemas.openxmlformats.org/officeDocument/2006/relationships/slide" Target="/ppt/slides/slide6.xml" Id="R0d444e29c66d47db" /><Relationship Type="http://schemas.openxmlformats.org/officeDocument/2006/relationships/slide" Target="/ppt/slides/slide7.xml" Id="Rc0d14e0ecafc44d7" /><Relationship Type="http://schemas.openxmlformats.org/officeDocument/2006/relationships/slide" Target="/ppt/slides/slide8.xml" Id="Rf0f633b3e2734cd0" /><Relationship Type="http://schemas.openxmlformats.org/officeDocument/2006/relationships/slide" Target="/ppt/slides/slide9.xml" Id="Rb37ce2901ff34c91" /><Relationship Type="http://schemas.openxmlformats.org/officeDocument/2006/relationships/slide" Target="/ppt/slides/slide10.xml" Id="R2887325e4cfe4b40" /><Relationship Type="http://schemas.openxmlformats.org/officeDocument/2006/relationships/slide" Target="/ppt/slides/slide11.xml" Id="R78047f304dbd40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8d2571160949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3361fdf0fb44d2" /><Relationship Type="http://schemas.openxmlformats.org/officeDocument/2006/relationships/notesMaster" Target="/ppt/notesMasters/notesMaster1.xml" Id="Rec07837c880f4e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9a3a2880e54de2" /><Relationship Type="http://schemas.openxmlformats.org/officeDocument/2006/relationships/notesMaster" Target="/ppt/notesMasters/notesMaster1.xml" Id="Rbea090551bc448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be96509c314ff4" /><Relationship Type="http://schemas.openxmlformats.org/officeDocument/2006/relationships/notesMaster" Target="/ppt/notesMasters/notesMaster1.xml" Id="R8c1f6b97d49b49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06ae3be0204e5b" /><Relationship Type="http://schemas.openxmlformats.org/officeDocument/2006/relationships/notesMaster" Target="/ppt/notesMasters/notesMaster1.xml" Id="R0b32b0c2b26e46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1dd1e0c9554c68" /><Relationship Type="http://schemas.openxmlformats.org/officeDocument/2006/relationships/notesMaster" Target="/ppt/notesMasters/notesMaster1.xml" Id="R512c324160e5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20e29736ea49b9" /><Relationship Type="http://schemas.openxmlformats.org/officeDocument/2006/relationships/notesMaster" Target="/ppt/notesMasters/notesMaster1.xml" Id="Rabd684c6239945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39cc2a317e4012" /><Relationship Type="http://schemas.openxmlformats.org/officeDocument/2006/relationships/notesMaster" Target="/ppt/notesMasters/notesMaster1.xml" Id="R73d36fbbb9f449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6de06782654730" /><Relationship Type="http://schemas.openxmlformats.org/officeDocument/2006/relationships/notesMaster" Target="/ppt/notesMasters/notesMaster1.xml" Id="Rb4871fe4825649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b07c9e8e104bfd" /><Relationship Type="http://schemas.openxmlformats.org/officeDocument/2006/relationships/notesMaster" Target="/ppt/notesMasters/notesMaster1.xml" Id="Ra74b905a069548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541c49722844d7" /><Relationship Type="http://schemas.openxmlformats.org/officeDocument/2006/relationships/notesMaster" Target="/ppt/notesMasters/notesMaster1.xml" Id="Re6896a5646f148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bc1f851cce4517" /><Relationship Type="http://schemas.openxmlformats.org/officeDocument/2006/relationships/notesMaster" Target="/ppt/notesMasters/notesMaster1.xml" Id="R07f7de5abb1a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8ef7818f0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d5a6bb95424d8c" /><Relationship Type="http://schemas.openxmlformats.org/officeDocument/2006/relationships/slideLayout" Target="/ppt/slideLayouts/slideLayout1.xml" Id="R5bd3ef57959a4f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d3ef57959a4f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ccaa4e7f746d6" /><Relationship Type="http://schemas.openxmlformats.org/officeDocument/2006/relationships/image" Target="/ppt/media/image.jpeg" Id="Rf9825eeb8b064364" /><Relationship Type="http://schemas.openxmlformats.org/officeDocument/2006/relationships/notesSlide" Target="/ppt/notesSlides/notesSlide1.xml" Id="Rc65fc46b8385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497381fd246b2" /><Relationship Type="http://schemas.openxmlformats.org/officeDocument/2006/relationships/notesSlide" Target="/ppt/notesSlides/notesSlide2.xml" Id="R36ae8b2ec99046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c38c4c6b74e88" /><Relationship Type="http://schemas.openxmlformats.org/officeDocument/2006/relationships/notesSlide" Target="/ppt/notesSlides/notesSlide3.xml" Id="R72493964c3b340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607bf15464017" /><Relationship Type="http://schemas.openxmlformats.org/officeDocument/2006/relationships/notesSlide" Target="/ppt/notesSlides/notesSlide4.xml" Id="R7d10848405624c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ee1cd19d74028" /><Relationship Type="http://schemas.openxmlformats.org/officeDocument/2006/relationships/notesSlide" Target="/ppt/notesSlides/notesSlide5.xml" Id="R6fd09fc7510849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8cf1ec9b464f" /><Relationship Type="http://schemas.openxmlformats.org/officeDocument/2006/relationships/image" Target="/ppt/media/image2.jpeg" Id="R769ef4cb5a8141e1" /><Relationship Type="http://schemas.openxmlformats.org/officeDocument/2006/relationships/image" Target="/ppt/media/image3.jpeg" Id="R645565971d3f4637" /><Relationship Type="http://schemas.openxmlformats.org/officeDocument/2006/relationships/image" Target="/ppt/media/image4.jpeg" Id="Rb54ae3ba64b54926" /><Relationship Type="http://schemas.openxmlformats.org/officeDocument/2006/relationships/notesSlide" Target="/ppt/notesSlides/notesSlide6.xml" Id="R4118da65129d4a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6da84882d4ac5" /><Relationship Type="http://schemas.openxmlformats.org/officeDocument/2006/relationships/chart" Target="/ppt/slides/charts/chart1.xml" Id="Rbe0eccc68c334b47" /><Relationship Type="http://schemas.openxmlformats.org/officeDocument/2006/relationships/notesSlide" Target="/ppt/notesSlides/notesSlide7.xml" Id="R5a92741c687f40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f501a62bf482e" /><Relationship Type="http://schemas.openxmlformats.org/officeDocument/2006/relationships/image" Target="/ppt/media/image5.jpeg" Id="R98218e2be9f64e62" /><Relationship Type="http://schemas.openxmlformats.org/officeDocument/2006/relationships/image" Target="/ppt/media/image6.jpeg" Id="Rd08bb70fef19435c" /><Relationship Type="http://schemas.openxmlformats.org/officeDocument/2006/relationships/notesSlide" Target="/ppt/notesSlides/notesSlide8.xml" Id="R4d8c81e7767542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77be22934440a" /><Relationship Type="http://schemas.openxmlformats.org/officeDocument/2006/relationships/notesSlide" Target="/ppt/notesSlides/notesSlide9.xml" Id="R00d48c965b1843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c7b61e1ba483d" /><Relationship Type="http://schemas.openxmlformats.org/officeDocument/2006/relationships/notesSlide" Target="/ppt/notesSlides/notesSlide10.xml" Id="Rc78d4793bb17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8d7ec92574db0" /><Relationship Type="http://schemas.openxmlformats.org/officeDocument/2006/relationships/notesSlide" Target="/ppt/notesSlides/notesSlide11.xml" Id="Ra75e323468564d9c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Random Forest</c:v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F1 macro</c:v>
              </c:pt>
              <c:pt idx="1">
                <c:v>Accuracy</c:v>
              </c:pt>
            </c:strLit>
          </c:cat>
          <c:val>
            <c:numLit>
              <c:formatCode>General</c:formatCode>
              <c:ptCount val="2"/>
              <c:pt idx="0">
                <c:v>0.621</c:v>
              </c:pt>
              <c:pt idx="1">
                <c:v>0.674</c:v>
              </c:pt>
            </c:numLit>
          </c:val>
        </c:ser>
        <c:ser>
          <c:idx val="1"/>
          <c:order val="1"/>
          <c:tx>
            <c:v>ResNet18 RGB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F1 macro</c:v>
              </c:pt>
              <c:pt idx="1">
                <c:v>Accuracy</c:v>
              </c:pt>
            </c:strLit>
          </c:cat>
          <c:val>
            <c:numLit>
              <c:formatCode>General</c:formatCode>
              <c:ptCount val="2"/>
              <c:pt idx="0">
                <c:v>0.598</c:v>
              </c:pt>
              <c:pt idx="1">
                <c:v>0.624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BADDA-60A3-4039-9CA6-BC76DAFE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Avance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23430-4F38-446C-835D-51E2ECA5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Granulometría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en tolva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3DE34-947B-420E-B693-2C40E91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Detección de carga, clasificación de tamaño de roca y estimación porcentual por frame.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B2700-59E2-41FE-96ED-CD343F8E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0"/>
            <a:ext cx="396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25eeb8b064364"/>
          <a:srcRect xmlns:a="http://schemas.openxmlformats.org/drawingml/2006/main" l="9155" t="0" r="9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819150"/>
            <a:ext cx="47625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23F1B-ECDF-405C-9B6F-0CCD40C5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197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Psinet / Memoria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25 junio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20867-4E02-4666-B6FB-FD88C24E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0053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22053-8DB7-496D-BF88-E129D91A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Estado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80C66-A894-452C-8E7B-45977BD7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 proyecto ya tiene una cadena funcional end-to-end para frames individuales.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EA664-6D8D-486E-9447-9669671F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B8BB7-4044-4014-A73A-AA2FC62C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59D90-CB7E-4C7A-AB14-773E203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86E1C-5070-4585-B873-47007B0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frames con patches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51840-4113-402E-8D7C-499B127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Split por carga original para evitar fuga de información.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511C5-E193-4A5D-AE1B-3D6FAC21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EFA3A-1AC9-455A-B100-6FC0C69C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3.464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F0940-3E1A-408C-98C0-86D9CFAB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patches útiles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10D54-1016-4C6F-897B-C164ACE3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Etiquetas fino / medio / grueso con confianza alta o media.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8AC2E-DE80-4228-9597-0960C2B6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33A45-1F4D-4F33-A754-7526E1A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193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0,621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14D15-C651-45A0-ABA9-27E58B6D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F1 macro RF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E7E90-B396-4207-A54A-2E67A903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Baseline OpenCV + Random Forest, mejor resultado global actual.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0D4EB-F275-477B-A55C-91839CCF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5260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5B972-F41D-4EAC-8F1F-CF3DB493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95A53-D251-4DFD-A003-99E2D648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frames de revisión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175CE-F24E-40C2-8CBB-2752F0A0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Inferencia sobre tolva completa con overlays auditables.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0DD37-9A14-416E-8AC0-A7A62384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Lectura gerencial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85345-D6B1-4963-BE24-7128AE8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6B589-F420-4BB7-A753-AD3A43C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Ya se segmenta la carga, se normaliza y se clasifica por zonas de la tolva.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D4C1F-6FB5-49D6-A17B-03ACAC0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34001-1756-4B03-9529-B917315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La etapa crítica ahora es mejorar y validar etiquetas, especialmente la frontera medio/grueso.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BF928-E48E-4AB8-8B46-5A952E1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E5720-9B16-4BD0-B10D-6AC8ACD5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El siguiente hito es validar con expertos y convertir la salida en reporte operacional por camión.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CA21E-4CE4-4EDF-9E06-FFFC221F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9851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B6A1D-0921-4C2A-823A-737F4DC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Estado de avance por componente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D458B-5B56-4B2F-B8FC-AB6A01D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Resumen gerencial del analítico de granulometría en tolva.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87C0B-0793-4B07-A454-DABBF7A2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35580-8ECA-4DD4-AEB8-64FAADE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DFDEA-F654-4FC0-A661-E5C91463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Componente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00FB-DB8B-4AD9-A66E-5C837569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Avance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2DA50-D7A5-4D86-9508-9E978516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95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Estado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2B77A-6E1A-4EA3-9283-C751DDE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A69AD-E570-4655-8E30-CF721479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Datos y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94EAB-A1CB-4890-B5E4-DA85F870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193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Frames de tolva organizados por tipo de carga y listos para generar grillas de análisis.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7C9C2-A9CC-4ED2-A27F-E6E0D38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38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3D"/>
                </a:solidFill>
              </a:defRPr>
            </a:pPr>
            <a:r>
              <a:rPr sz="1350" b="1">
                <a:solidFill>
                  <a:srgbClr val="007A3D"/>
                </a:solidFill>
              </a:rPr>
              <a:t>Funcional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61395-13E9-4556-9FD8-F4FF20E2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ED6FC-C99B-457D-8C0B-3282F63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Segmentación de carga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CCF68-C1F5-4513-80D6-267EE68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Modelo YOLO identifica la zona de material y genera la máscara de carga.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80F44-03DC-476E-A249-01C44F4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19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3D"/>
                </a:solidFill>
              </a:defRPr>
            </a:pPr>
            <a:r>
              <a:rPr sz="1350" b="1">
                <a:solidFill>
                  <a:srgbClr val="007A3D"/>
                </a:solidFill>
              </a:rPr>
              <a:t>Funcional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0D84C-30B2-42E1-9AD5-0D44BF7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2DB3E-EBAB-493D-A4E4-0F0020F4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Analítico granulometría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7EDBA-DF28-48E2-BE91-F38813F2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Grilla normalizada y clasificación fino / medio / grueso; salida porcentual por frame.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136A1-2FB5-42F0-9F0B-22744103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004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3D"/>
                </a:solidFill>
              </a:defRPr>
            </a:pPr>
            <a:r>
              <a:rPr sz="1350" b="1">
                <a:solidFill>
                  <a:srgbClr val="007A3D"/>
                </a:solidFill>
              </a:rPr>
              <a:t>Funcional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473C6-6506-4F27-A007-F28A5A3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2B0A7-13C1-482F-99F3-A1FEFEC8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Modelo clasificador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00CA0-01D0-4224-9E39-903C3692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Random Forest operativo como baseline; CNN ResNet18 implementada para comparación.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26F2C-1BAB-4642-8B34-F0221F1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81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En evaluación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7EF97-D961-41EA-9878-E192D4CD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2169E-CC91-4CEF-94D4-91B01D08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Web app revisión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4DE77-D5D1-4EE1-9CEC-01EABCBC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434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Herramienta para revisar y corregir etiquetas de patches con apoyo de la imagen original.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781D0-FA5C-4AFB-B7F0-EAF3D63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624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Demo operativa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DAA93-A4EE-4040-AD05-3333397F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1C501-D343-4B01-872A-90F1F140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Validación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0B279-520A-466F-8973-685F640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Aumentar datos, revisar con experto y consolidar resultado promedio por camión.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770F6E-9759-4E05-B0A5-6303223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143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En progreso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CFC68F-3DBC-4677-AA76-F8A02691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5195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3BAAEC-4023-42B1-BE47-9F8E693F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Qué se quiere lograr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D6344-B131-4102-B306-184C8656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Medir granulometría visual de la carga sin intervención manual, frame por frame.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DDC0A-81FB-445F-A1BF-85E35C9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4BABB-7338-4038-BBB7-23F8251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D983D-E4E7-4F56-9050-DCCE3457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Problema operativo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08196-4169-4F7D-B3A7-A957A47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8BE68-4020-4FAD-99DA-774BB98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La carga llega con variación de distancia, luz, sombra y polvo.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C61F2-5081-4F26-B9C2-8D78B57F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B575E-3A49-469A-BBA7-C42F4CB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Las rocas grandes y medianas se mezclan; un patch aislado puede ser ambiguo.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17BFA-FBDC-4760-9B5F-6228B64A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851AE-AEAB-42E5-B1ED-21FE54D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La medición debe ser consistente para comparar camiones y tendencias.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B784D-71A0-4B8C-B048-68AD64E8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758CF-638C-492D-BBB4-55E3D238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Solución en desarrollo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E343C-1649-496C-ABD0-6151FAEB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F045A-C456-42F9-9C5F-F10F9B8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Segmentar solo el material visible en la tolva.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2CC18-375E-4D44-B2F0-51860B6A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6F6E2-E46C-4924-B99E-537C1B6F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085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Normalizar el ancho de la carga para comparar escala visual.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1C17C-1231-41D5-B013-50780A9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015E1-2B48-46B6-A9F4-F06458F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Clasificar zonas en fino, medio o grueso.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DB736-186D-4C33-9164-9F0D068A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F8D9A-A264-400C-BB84-C04A61EB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Agregar porcentajes por frame y luego por camión.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269CC-DB7A-4F99-98BB-BD3B573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8261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53418-9E62-45E9-AF95-ED88EC9C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Pipeline implementado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A7937-CEB8-4C0C-AD1E-7FC32612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 flujo actual es reproducible y separa percepción, etiquetado, entrenamiento e inferencia.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8CF07-E63B-42DE-B72F-D9794EE8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63852-7921-47C1-8D23-A318C42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0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6C74A-9158-493C-A817-B62605E5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457B2-F95E-47E5-BFC0-65ED5A6C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Imagen tolva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0A7AC-9B42-4FDA-BB58-C1BF5B9C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Frame del camión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1B943-DF59-47F7-8E32-36D66790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7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5555"/>
                </a:solidFill>
              </a:defRPr>
            </a:pPr>
            <a:r>
              <a:rPr sz="27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D9E72-8EFD-4798-A0E0-2867682D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160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13890-F580-48D7-812C-A8022A3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015EA-BCB6-42B9-87D7-F2C1D003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990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YOLO carga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157C9-7227-4770-9E9F-583A2777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33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Máscara del material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99A08-1982-4D60-A067-A44CB07F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57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5555"/>
                </a:solidFill>
              </a:defRPr>
            </a:pPr>
            <a:r>
              <a:rPr sz="27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0A29C-45A2-43B5-96B4-CF656270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160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C1791-DDE9-4A77-A436-8F724CB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18AF4-6B05-4FF8-BB77-CE05246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Normalizar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9D625-3F5F-4A3D-9500-1E06930E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Ancho fijo 896 px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8224-D017-4E37-8E24-AFADA2DD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5555"/>
                </a:solidFill>
              </a:defRPr>
            </a:pPr>
            <a:r>
              <a:rPr sz="27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0AC88-E499-4A78-9ADB-39ED14D1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60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59E96-533F-4960-826C-E3765B0D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440CE-4214-45C1-A0E7-C282A47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Patches 96x96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77E38-DF0D-40CD-B968-74906A15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Grilla sobre carga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48FB2-CF50-4C90-AC7F-C0E4F5C2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5555"/>
                </a:solidFill>
              </a:defRPr>
            </a:pPr>
            <a:r>
              <a:rPr sz="27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3CFE9-9806-407A-8675-44986659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60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65199-FD2F-4608-8626-E07920A4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7A4C5-FA7C-48BC-81A4-9C6E4E8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Modelo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4F6FF-647E-40B6-A313-8B9FB804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RF / CNN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5647E-DBED-4E7E-B2C2-4AA7E0B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5555"/>
                </a:solidFill>
              </a:defRPr>
            </a:pPr>
            <a:r>
              <a:rPr sz="27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4004A-9A8B-4DBF-B00B-1CF6E68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95500"/>
            <a:ext cx="160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08A95-2F45-4B74-A8BF-BCBD0EB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24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A7DAA7-E049-49BB-A556-4E061D4C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0990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Salida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D194EE-C725-4265-A878-76C7A7AB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33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% fino / medio / grueso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EBFB02-B774-4571-9352-457CF805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Punto clave: el split de entrenamiento se hace por frame/carga original, no por patch, para evitar métricas infladas.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BCB520-2A2B-402D-88C8-56C8CEFC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9923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8D4979-360B-4C5A-B740-98E021F5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Datos y etiquetado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4058E-E431-4650-A809-28813900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 pasó desde patches aislados a grilla normalizada con contexto de carga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D290-400E-418E-ADCA-07AD864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ef4cb5a8141e1"/>
          <a:stretch xmlns:a="http://schemas.openxmlformats.org/drawingml/2006/main"/>
        </p:blipFill>
        <p:spPr>
          <a:xfrm xmlns:a="http://schemas.openxmlformats.org/drawingml/2006/main">
            <a:off x="400050" y="171450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565971d3f4637"/>
          <a:stretch xmlns:a="http://schemas.openxmlformats.org/drawingml/2006/main"/>
        </p:blipFill>
        <p:spPr>
          <a:xfrm xmlns:a="http://schemas.openxmlformats.org/drawingml/2006/main">
            <a:off x="2114550" y="171450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ae3ba64b54926"/>
          <a:stretch xmlns:a="http://schemas.openxmlformats.org/drawingml/2006/main"/>
        </p:blipFill>
        <p:spPr>
          <a:xfrm xmlns:a="http://schemas.openxmlformats.org/drawingml/2006/main">
            <a:off x="3829050" y="171450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5A090-F67D-4B02-BB00-9F1B62C9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Ejemplos de patches 96x96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85228-E48E-4448-8E07-7967D16B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5143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20515-11F9-4093-A34E-4F76BCBE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Dataset actual de entrenamiento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7A242-5B9D-4663-88D1-17F2E8E4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Fino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2751F-50F4-4F92-86FB-F765BA5F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CC7A7-4D20-42A1-B29F-CD34EA43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41922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55B"/>
          </a:solidFill>
          <a:ln xmlns:a="http://schemas.openxmlformats.org/drawingml/2006/main" w="0">
            <a:solidFill>
              <a:srgbClr val="49B5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7AC01-622C-4298-8764-80606AF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622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22%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D4DA4-DC12-4C0B-8298-A63607C6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F4B29-17A4-4D70-89DC-1E920EA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306CD-F9B0-4026-9DFD-5BB452E8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0F"/>
          </a:solidFill>
          <a:ln xmlns:a="http://schemas.openxmlformats.org/drawingml/2006/main" w="0">
            <a:solidFill>
              <a:srgbClr val="E7B90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75A96-3213-436C-9705-771DF08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987D2-FF23-47B3-885E-061406A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Grueso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880FB-88DE-478F-A4B9-8BD60679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8E846-134D-45E3-B2FB-2666AAA1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123506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63D"/>
          </a:solidFill>
          <a:ln xmlns:a="http://schemas.openxmlformats.org/drawingml/2006/main" w="0">
            <a:solidFill>
              <a:srgbClr val="E456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ADA48-5165-45CF-84DF-053C8A5E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14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65%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B0A11-BF05-43CE-905F-1E4231C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Total: 3.464 patches útiles / 140 frames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911E5-F629-4F18-A6FA-2E1BD2EE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3D039-F829-42F4-8A60-B8D76D8E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26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Batch001 + batch002 compilados en grilla normalizada 96.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44C48-BBFB-48C8-ABF9-7259BFD4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2BC39-1BAD-4A01-AB5C-F4224ED6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26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Etiquetado asistido por IA y revisión humana con webapp.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37B1A1-72C9-4AE9-A0FD-49D53847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30D1A8-0859-4369-9D98-E7398937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26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 excluyen ambiguo / inválido para entrenamiento inicial.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57142-C571-4B2F-BF11-4E67CD6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9829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9B31A7-558A-4C2C-A9E6-936E50EA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Comparación de modelos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74CFA-6210-4337-8463-B24C25E7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Random Forest sigue siendo el baseline más sólido; CNN aporta señales útiles pero requiere más datos.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1F131-1071-47D4-A277-1D3DE697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5143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0eccc68c334b4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6FCDB-033C-4755-B461-C44CEA1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E49D4-C634-43EC-B17A-C4EBF77C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Lectura técnica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7BADF-D00D-4876-9A04-908C1FAD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2E2ED-8066-4F38-9F65-DF3BC87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05100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RF: mejor desempeño global por patch y matriz más estable.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727F9-A918-4E1E-B86C-E8C73574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2F1FE-5333-42D2-8AB1-BE1BF90A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CNN: mejor recall en fino, pero castiga más la clase medio.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A7D0B-0206-4E7A-B2C0-56AE6C09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1FCB5-00DD-4225-8C51-4D2D3EE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19500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La evaluación final debe mirar patch y tolva completa.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9B8E6-89F4-436D-8BB8-A200B1E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F1 por clase RF: fino 0,486 | medio 0,717 | grueso 0,659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4E431-68A8-45D6-8F83-9D58544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F1 por clase CNN: fino 0,487 | medio 0,616 | grueso 0,689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1CFF6-11A8-469B-9268-AEF6B4A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0547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7A25F5-1DEC-4390-B17E-6A439481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Inferencia sobre tolva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00077-A2FA-4400-8CA4-23DEA4E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La salida útil para operación es distribución por frame, no solo etiqueta por patch.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26AA5-3E12-4D54-AB6E-64786E1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8e2be9f64e62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04950"/>
            <a:ext cx="4953000" cy="27813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b70fef19435c"/>
          <a:stretch xmlns:a="http://schemas.openxmlformats.org/drawingml/2006/main"/>
        </p:blipFill>
        <p:spPr>
          <a:xfrm xmlns:a="http://schemas.openxmlformats.org/drawingml/2006/main">
            <a:off x="5948064" y="1504950"/>
            <a:ext cx="5344121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CDD13-B4AE-4EF2-ADAF-ADCC6AF8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Frame original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3A6A7-B2D3-43FA-B2A4-750B552D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Overlay clasificado: fino 0% | medio 5% | grueso 95%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17176-769F-4254-8835-39098B84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10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B60FA-2D0F-4123-9325-125DE67F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Set de revisión: 10 frames procesados. Promedio estimado: fino 6,2%, medio 32,8%, grueso 61,0%. Dominantes: 7 grueso, 3 medio.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64854-29B1-483A-9CED-911964F9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5700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7A7EF8-8BBD-4906-860B-67DD9516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Aprendizajes y riesgos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5B6E8-DE4D-4049-90F3-90F9E2C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La incertidumbre principal no está en correr modelos, sino en cerrar criterio de etiqueta y escala.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4559A-631A-4FD2-B55D-76D145F7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8FD0E-6691-4727-A993-1CDD2E3C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44E72-724F-4F0E-B02B-DFB54EF8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Lo que funcionó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86CB0-7C89-440F-B4DF-44B1242F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73D77-791E-4A89-ACE6-B75A7939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Normalización por ancho de carga estabiliza la escala.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AEC79-E4FA-4479-AFCD-777A764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FE432-57C3-4C36-9098-E0BC557D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Grilla 96 entrega mejor contexto que patches aislados.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9AC9A-F2A9-4A53-B47F-1E5DC6A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6FBD1-BA1C-4608-AD10-D3E243E2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La webapp permite revisión rápida con imagen original.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927F1-0AE7-4D52-A224-861FEBEF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031AE-4BDB-421A-95B3-74BC1CB1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Riesgos abiertos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E5D07-284A-4F09-BCF4-67EF554D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9B305-3CD4-48BB-8DFA-88E9293D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Clase fino aún tiene menos ejemplos.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75DFA-39F4-478E-849A-BC088C82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CE65B-04CB-4912-A41C-05AD9C4F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7655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Medio y grueso se confunden en cargas mixtas.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D8595-0254-4944-97C4-BC0D2E4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51415-BE65-4A80-9AB4-36067E77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76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La validación requiere criterio experto de planta.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4DD85-5283-48F9-BFFC-4FB562CF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240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CB1B-B20D-4D47-A039-A9119206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669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Implicancia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11B74-AC2E-4CA0-ABF5-38F5F11B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La siguiente fase debe priorizar calidad de datos y validación operacional antes de optimizar arquitecturas más complejas.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44349-E0CA-49BD-8F77-AC24AC33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8505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D11EC-FB95-47E6-9674-98EEEF56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Siguiente etapa recomendada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14E34-480D-416E-A159-7AE86533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Cerrar una validación operacional corta con foco en calidad de etiquetas y salida por camión.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19F48-5FDD-40F9-A99E-52F67C11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Avance proyecto granulometría en tolva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F018A-AC03-4B1B-A53D-C58C9FC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E459D-09CE-4114-B382-DECEABF7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0344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D4804-3CFF-427A-9A3C-7E90417B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Revisión experta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C0D2A-96F6-44F0-8330-A8603259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Revisar una muestra balanceada de patches medio / grueso / fino en la webapp.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E5142-A8EC-4AF6-9029-B6ADC1BA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8BFC9-4E69-41AD-BB14-737B8181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0344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B0446-F805-44BC-B61F-776997D4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Dataset reforzado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705DE-494A-4BB8-A6ED-64961383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Agregar frames finos y mixtos; mantener split por carga original.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70077-4315-4249-A0F3-3BD3B91E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2B52A-3279-432F-AE02-39F8474E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0344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992F5-8779-47D2-972A-9C4EA5D0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Comparación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69A72-FF8B-41B2-A099-729E5808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RF vs CNN RGB vs variantes grayscale/DexiNed sobre el mismo test fijo.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FFAC4-BE87-4779-9EBA-D0A50829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89619-D703-4A7F-B9F3-258411A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344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0F1FA-C1A0-4C87-972A-C71EF35E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Reporte por camión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268F6-EA79-41F9-8CA6-397B861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Agrupar varios frames del mismo camión para entregar promedio y margen de confianza.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EEEEF-7C12-4F47-AF13-36A35C30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2331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B5D32-B7D9-4FE0-87E9-05B850EB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Decisión solicitada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AB667-120F-41D6-AD18-F8069F9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8223D-4CC6-45B3-9CB2-FB990ECC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76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Autorizar una fase de validación con datos reales adicionales y revisión experta para transformar el prototipo en una métrica operacional confiable.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941FA-9F3D-4C70-BA3E-100F624C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CBF80-D123-4F13-B75F-DD05C0C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8446B-1CCE-490A-8098-45A2AAF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Más frames finos, medios, gruesos y mixtos representativos de operación.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38B93-A144-46C7-8FFD-9196EFD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C4CF4-DA3D-4C7A-B2DF-6A4EF2C5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Validación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36721-0CEE-4ABF-BD82-17100E5D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Revisión de etiquetas por experto y consenso de frontera fino/medio/grueso.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18B1A-E331-4264-8313-B5232E58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3048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DE4F3-006D-4B0D-92EC-A9B0B5AA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Piloto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B6167-0226-406E-9CB2-82842B6A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62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Reporte promedio por camión usando varios frames consecutivos.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D6BE9-A3AF-4C90-B693-0F144CBC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Resultado esperado: indicador visual repetible de granulometría para apoyar control y seguimiento operacional.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67B2D-A697-44D6-9EE4-82247BF3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7867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2026-06-26T04:45:36.5940000Z</dcterms:created>
  <dcterms:modified xsi:type="dcterms:W3CDTF">2026-06-26T04:45:36.5940000Z</dcterms:modified>
</coreProperties>
</file>