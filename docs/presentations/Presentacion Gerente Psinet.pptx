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08652e2d8f4ea8" /><Relationship Type="http://schemas.openxmlformats.org/officeDocument/2006/relationships/extended-properties" Target="/docProps/app.xml" Id="R72f7f113eee84d55" /><Relationship Type="http://schemas.openxmlformats.org/officeDocument/2006/relationships/officeDocument" Target="/ppt/presentation.xml" Id="R8371f7ad8cf843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ca1406c1384a05"/>
  </p:sldMasterIdLst>
  <p:notesMasterIdLst>
    <p:notesMasterId xmlns:r="http://schemas.openxmlformats.org/officeDocument/2006/relationships" r:id="R08887b232fbd46bf"/>
  </p:notesMasterIdLst>
  <p:sldIdLst>
    <p:sldId xmlns:r="http://schemas.openxmlformats.org/officeDocument/2006/relationships" id="256" r:id="R9e131426c53642ae"/>
    <p:sldId xmlns:r="http://schemas.openxmlformats.org/officeDocument/2006/relationships" id="257" r:id="R5ac8f39af2034f88"/>
    <p:sldId xmlns:r="http://schemas.openxmlformats.org/officeDocument/2006/relationships" id="258" r:id="R9c89a698f36747e9"/>
    <p:sldId xmlns:r="http://schemas.openxmlformats.org/officeDocument/2006/relationships" id="259" r:id="Rc180ed9e28794590"/>
    <p:sldId xmlns:r="http://schemas.openxmlformats.org/officeDocument/2006/relationships" id="260" r:id="R18e3e305d5a24069"/>
    <p:sldId xmlns:r="http://schemas.openxmlformats.org/officeDocument/2006/relationships" id="261" r:id="Rc2297e8913d544b6"/>
    <p:sldId xmlns:r="http://schemas.openxmlformats.org/officeDocument/2006/relationships" id="262" r:id="R89e2b14f94ce44ff"/>
    <p:sldId xmlns:r="http://schemas.openxmlformats.org/officeDocument/2006/relationships" id="263" r:id="R13ab30804e604a68"/>
    <p:sldId xmlns:r="http://schemas.openxmlformats.org/officeDocument/2006/relationships" id="264" r:id="R2e212e75955b48b6"/>
    <p:sldId xmlns:r="http://schemas.openxmlformats.org/officeDocument/2006/relationships" id="265" r:id="R54acecc582be4bb9"/>
    <p:sldId xmlns:r="http://schemas.openxmlformats.org/officeDocument/2006/relationships" id="266" r:id="Rf23f86a8ee39462f"/>
    <p:sldId xmlns:r="http://schemas.openxmlformats.org/officeDocument/2006/relationships" id="267" r:id="Rec38b9ce52074e49"/>
    <p:sldId xmlns:r="http://schemas.openxmlformats.org/officeDocument/2006/relationships" id="268" r:id="Rfda837f5c1fc4c4c"/>
    <p:sldId xmlns:r="http://schemas.openxmlformats.org/officeDocument/2006/relationships" id="269" r:id="R46a317e5c5014a0e"/>
    <p:sldId xmlns:r="http://schemas.openxmlformats.org/officeDocument/2006/relationships" id="270" r:id="R3c4f71acf7e149eb"/>
    <p:sldId xmlns:r="http://schemas.openxmlformats.org/officeDocument/2006/relationships" id="271" r:id="Re6c9b77ea3834d02"/>
    <p:sldId xmlns:r="http://schemas.openxmlformats.org/officeDocument/2006/relationships" id="272" r:id="Ra2741324032f4cbe"/>
    <p:sldId xmlns:r="http://schemas.openxmlformats.org/officeDocument/2006/relationships" id="273" r:id="R8f948090269f4445"/>
    <p:sldId xmlns:r="http://schemas.openxmlformats.org/officeDocument/2006/relationships" id="274" r:id="R4783a5d726b24f71"/>
    <p:sldId xmlns:r="http://schemas.openxmlformats.org/officeDocument/2006/relationships" id="275" r:id="R3edd19dde1b44f1a"/>
    <p:sldId xmlns:r="http://schemas.openxmlformats.org/officeDocument/2006/relationships" id="276" r:id="R6adcb8973e4c434c"/>
    <p:sldId xmlns:r="http://schemas.openxmlformats.org/officeDocument/2006/relationships" id="277" r:id="R377e3b73b1e64a5f"/>
    <p:sldId xmlns:r="http://schemas.openxmlformats.org/officeDocument/2006/relationships" id="278" r:id="Rbf29035e864f4fda"/>
    <p:sldId xmlns:r="http://schemas.openxmlformats.org/officeDocument/2006/relationships" id="279" r:id="R0636d4bb43234461"/>
    <p:sldId xmlns:r="http://schemas.openxmlformats.org/officeDocument/2006/relationships" id="280" r:id="R3ce22cebb1bc447c"/>
    <p:sldId xmlns:r="http://schemas.openxmlformats.org/officeDocument/2006/relationships" id="281" r:id="R38f6060715d44f33"/>
    <p:sldId xmlns:r="http://schemas.openxmlformats.org/officeDocument/2006/relationships" id="282" r:id="R2983e05f3b20481b"/>
    <p:sldId xmlns:r="http://schemas.openxmlformats.org/officeDocument/2006/relationships" id="283" r:id="R1464b2a455f64668"/>
    <p:sldId xmlns:r="http://schemas.openxmlformats.org/officeDocument/2006/relationships" id="284" r:id="R413f597161e34999"/>
    <p:sldId xmlns:r="http://schemas.openxmlformats.org/officeDocument/2006/relationships" id="285" r:id="Rb893294b3e02485e"/>
    <p:sldId xmlns:r="http://schemas.openxmlformats.org/officeDocument/2006/relationships" id="286" r:id="Ra5ecc51209204c9b"/>
    <p:sldId xmlns:r="http://schemas.openxmlformats.org/officeDocument/2006/relationships" id="287" r:id="Ra80ccbb32f7a4c7b"/>
    <p:sldId xmlns:r="http://schemas.openxmlformats.org/officeDocument/2006/relationships" id="288" r:id="R4cd020c41ec04709"/>
    <p:sldId xmlns:r="http://schemas.openxmlformats.org/officeDocument/2006/relationships" id="289" r:id="R1296bbca92ca4029"/>
    <p:sldId xmlns:r="http://schemas.openxmlformats.org/officeDocument/2006/relationships" id="290" r:id="R23c48e1e989b4ff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ae5f346de4c63" /><Relationship Type="http://schemas.openxmlformats.org/officeDocument/2006/relationships/slideMaster" Target="/ppt/slideMasters/slideMaster1.xml" Id="Rc0ca1406c1384a05" /><Relationship Type="http://schemas.openxmlformats.org/officeDocument/2006/relationships/notesMaster" Target="/ppt/notesMasters/notesMaster1.xml" Id="R08887b232fbd46bf" /><Relationship Type="http://schemas.openxmlformats.org/officeDocument/2006/relationships/presProps" Target="/ppt/presProps.xml" Id="R6cbadbaac93e4145" /><Relationship Type="http://schemas.openxmlformats.org/officeDocument/2006/relationships/tableStyles" Target="/ppt/tableStyles.xml" Id="R6fd9203697634cad" /><Relationship Type="http://schemas.openxmlformats.org/officeDocument/2006/relationships/slide" Target="/ppt/slides/slide1.xml" Id="R9e131426c53642ae" /><Relationship Type="http://schemas.openxmlformats.org/officeDocument/2006/relationships/slide" Target="/ppt/slides/slide2.xml" Id="R5ac8f39af2034f88" /><Relationship Type="http://schemas.openxmlformats.org/officeDocument/2006/relationships/slide" Target="/ppt/slides/slide3.xml" Id="R9c89a698f36747e9" /><Relationship Type="http://schemas.openxmlformats.org/officeDocument/2006/relationships/slide" Target="/ppt/slides/slide4.xml" Id="Rc180ed9e28794590" /><Relationship Type="http://schemas.openxmlformats.org/officeDocument/2006/relationships/slide" Target="/ppt/slides/slide5.xml" Id="R18e3e305d5a24069" /><Relationship Type="http://schemas.openxmlformats.org/officeDocument/2006/relationships/slide" Target="/ppt/slides/slide6.xml" Id="Rc2297e8913d544b6" /><Relationship Type="http://schemas.openxmlformats.org/officeDocument/2006/relationships/slide" Target="/ppt/slides/slide7.xml" Id="R89e2b14f94ce44ff" /><Relationship Type="http://schemas.openxmlformats.org/officeDocument/2006/relationships/slide" Target="/ppt/slides/slide8.xml" Id="R13ab30804e604a68" /><Relationship Type="http://schemas.openxmlformats.org/officeDocument/2006/relationships/slide" Target="/ppt/slides/slide9.xml" Id="R2e212e75955b48b6" /><Relationship Type="http://schemas.openxmlformats.org/officeDocument/2006/relationships/slide" Target="/ppt/slides/slide10.xml" Id="R54acecc582be4bb9" /><Relationship Type="http://schemas.openxmlformats.org/officeDocument/2006/relationships/slide" Target="/ppt/slides/slide11.xml" Id="Rf23f86a8ee39462f" /><Relationship Type="http://schemas.openxmlformats.org/officeDocument/2006/relationships/slide" Target="/ppt/slides/slide12.xml" Id="Rec38b9ce52074e49" /><Relationship Type="http://schemas.openxmlformats.org/officeDocument/2006/relationships/slide" Target="/ppt/slides/slide13.xml" Id="Rfda837f5c1fc4c4c" /><Relationship Type="http://schemas.openxmlformats.org/officeDocument/2006/relationships/slide" Target="/ppt/slides/slide14.xml" Id="R46a317e5c5014a0e" /><Relationship Type="http://schemas.openxmlformats.org/officeDocument/2006/relationships/slide" Target="/ppt/slides/slide15.xml" Id="R3c4f71acf7e149eb" /><Relationship Type="http://schemas.openxmlformats.org/officeDocument/2006/relationships/slide" Target="/ppt/slides/slide16.xml" Id="Re6c9b77ea3834d02" /><Relationship Type="http://schemas.openxmlformats.org/officeDocument/2006/relationships/slide" Target="/ppt/slides/slide17.xml" Id="Ra2741324032f4cbe" /><Relationship Type="http://schemas.openxmlformats.org/officeDocument/2006/relationships/slide" Target="/ppt/slides/slide18.xml" Id="R8f948090269f4445" /><Relationship Type="http://schemas.openxmlformats.org/officeDocument/2006/relationships/slide" Target="/ppt/slides/slide19.xml" Id="R4783a5d726b24f71" /><Relationship Type="http://schemas.openxmlformats.org/officeDocument/2006/relationships/slide" Target="/ppt/slides/slide20.xml" Id="R3edd19dde1b44f1a" /><Relationship Type="http://schemas.openxmlformats.org/officeDocument/2006/relationships/slide" Target="/ppt/slides/slide21.xml" Id="R6adcb8973e4c434c" /><Relationship Type="http://schemas.openxmlformats.org/officeDocument/2006/relationships/slide" Target="/ppt/slides/slide22.xml" Id="R377e3b73b1e64a5f" /><Relationship Type="http://schemas.openxmlformats.org/officeDocument/2006/relationships/slide" Target="/ppt/slides/slide23.xml" Id="Rbf29035e864f4fda" /><Relationship Type="http://schemas.openxmlformats.org/officeDocument/2006/relationships/slide" Target="/ppt/slides/slide24.xml" Id="R0636d4bb43234461" /><Relationship Type="http://schemas.openxmlformats.org/officeDocument/2006/relationships/slide" Target="/ppt/slides/slide25.xml" Id="R3ce22cebb1bc447c" /><Relationship Type="http://schemas.openxmlformats.org/officeDocument/2006/relationships/slide" Target="/ppt/slides/slide26.xml" Id="R38f6060715d44f33" /><Relationship Type="http://schemas.openxmlformats.org/officeDocument/2006/relationships/slide" Target="/ppt/slides/slide27.xml" Id="R2983e05f3b20481b" /><Relationship Type="http://schemas.openxmlformats.org/officeDocument/2006/relationships/slide" Target="/ppt/slides/slide28.xml" Id="R1464b2a455f64668" /><Relationship Type="http://schemas.openxmlformats.org/officeDocument/2006/relationships/slide" Target="/ppt/slides/slide29.xml" Id="R413f597161e34999" /><Relationship Type="http://schemas.openxmlformats.org/officeDocument/2006/relationships/slide" Target="/ppt/slides/slide30.xml" Id="Rb893294b3e02485e" /><Relationship Type="http://schemas.openxmlformats.org/officeDocument/2006/relationships/slide" Target="/ppt/slides/slide31.xml" Id="Ra5ecc51209204c9b" /><Relationship Type="http://schemas.openxmlformats.org/officeDocument/2006/relationships/slide" Target="/ppt/slides/slide32.xml" Id="Ra80ccbb32f7a4c7b" /><Relationship Type="http://schemas.openxmlformats.org/officeDocument/2006/relationships/slide" Target="/ppt/slides/slide33.xml" Id="R4cd020c41ec04709" /><Relationship Type="http://schemas.openxmlformats.org/officeDocument/2006/relationships/slide" Target="/ppt/slides/slide34.xml" Id="R1296bbca92ca4029" /><Relationship Type="http://schemas.openxmlformats.org/officeDocument/2006/relationships/slide" Target="/ppt/slides/slide35.xml" Id="R23c48e1e989b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1bd3816055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e4674851e848bc" /><Relationship Type="http://schemas.openxmlformats.org/officeDocument/2006/relationships/notesMaster" Target="/ppt/notesMasters/notesMaster1.xml" Id="R80bea724584245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c71f0ec0df43e7" /><Relationship Type="http://schemas.openxmlformats.org/officeDocument/2006/relationships/notesMaster" Target="/ppt/notesMasters/notesMaster1.xml" Id="Rf9bfef2f995b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4a563c26db4b92" /><Relationship Type="http://schemas.openxmlformats.org/officeDocument/2006/relationships/notesMaster" Target="/ppt/notesMasters/notesMaster1.xml" Id="Rf3d30e76a72b41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3d68670e54103" /><Relationship Type="http://schemas.openxmlformats.org/officeDocument/2006/relationships/notesMaster" Target="/ppt/notesMasters/notesMaster1.xml" Id="Rd0d9adf45fd84c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a9152bbbe0495a" /><Relationship Type="http://schemas.openxmlformats.org/officeDocument/2006/relationships/notesMaster" Target="/ppt/notesMasters/notesMaster1.xml" Id="Rbc73c2203cea4b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d0a3c1d5f6434a" /><Relationship Type="http://schemas.openxmlformats.org/officeDocument/2006/relationships/notesMaster" Target="/ppt/notesMasters/notesMaster1.xml" Id="Rfdde0142e68741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74ffff6c394f11" /><Relationship Type="http://schemas.openxmlformats.org/officeDocument/2006/relationships/notesMaster" Target="/ppt/notesMasters/notesMaster1.xml" Id="R8bcdaec0de7746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0cbb6be6da4f12" /><Relationship Type="http://schemas.openxmlformats.org/officeDocument/2006/relationships/notesMaster" Target="/ppt/notesMasters/notesMaster1.xml" Id="Rec3e3d687fb245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0fc2ead7e64c77" /><Relationship Type="http://schemas.openxmlformats.org/officeDocument/2006/relationships/notesMaster" Target="/ppt/notesMasters/notesMaster1.xml" Id="R6144798cf25443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5b184478064492" /><Relationship Type="http://schemas.openxmlformats.org/officeDocument/2006/relationships/notesMaster" Target="/ppt/notesMasters/notesMaster1.xml" Id="R4f19626360014d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71a067faa04959" /><Relationship Type="http://schemas.openxmlformats.org/officeDocument/2006/relationships/notesMaster" Target="/ppt/notesMasters/notesMaster1.xml" Id="R4a573195c78640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43324959ac4a69" /><Relationship Type="http://schemas.openxmlformats.org/officeDocument/2006/relationships/notesMaster" Target="/ppt/notesMasters/notesMaster1.xml" Id="R148beda0b03040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7a6cc4aa834f2a" /><Relationship Type="http://schemas.openxmlformats.org/officeDocument/2006/relationships/notesMaster" Target="/ppt/notesMasters/notesMaster1.xml" Id="Ra87d5d25d0ef47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2a1c41a178401f" /><Relationship Type="http://schemas.openxmlformats.org/officeDocument/2006/relationships/notesMaster" Target="/ppt/notesMasters/notesMaster1.xml" Id="Rc1e79678beeb4b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b71c9dea484e13" /><Relationship Type="http://schemas.openxmlformats.org/officeDocument/2006/relationships/notesMaster" Target="/ppt/notesMasters/notesMaster1.xml" Id="Rf9107e4d7c9943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b5fb5fe25640c2" /><Relationship Type="http://schemas.openxmlformats.org/officeDocument/2006/relationships/notesMaster" Target="/ppt/notesMasters/notesMaster1.xml" Id="Rac9abd3669954a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00d099327d403d" /><Relationship Type="http://schemas.openxmlformats.org/officeDocument/2006/relationships/notesMaster" Target="/ppt/notesMasters/notesMaster1.xml" Id="R9dbc2f2388654a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4ff349041c458c" /><Relationship Type="http://schemas.openxmlformats.org/officeDocument/2006/relationships/notesMaster" Target="/ppt/notesMasters/notesMaster1.xml" Id="R142671702dd444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05b6904b604d18" /><Relationship Type="http://schemas.openxmlformats.org/officeDocument/2006/relationships/notesMaster" Target="/ppt/notesMasters/notesMaster1.xml" Id="Reabb8164e9dd48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ea870da6724086" /><Relationship Type="http://schemas.openxmlformats.org/officeDocument/2006/relationships/notesMaster" Target="/ppt/notesMasters/notesMaster1.xml" Id="Rf6ab6653bcd74d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6554449fb844ed" /><Relationship Type="http://schemas.openxmlformats.org/officeDocument/2006/relationships/notesMaster" Target="/ppt/notesMasters/notesMaster1.xml" Id="Rf2552b97cabd47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1398f7ee544c7f" /><Relationship Type="http://schemas.openxmlformats.org/officeDocument/2006/relationships/notesMaster" Target="/ppt/notesMasters/notesMaster1.xml" Id="R026e3a82f8ad4d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7ba3a9c01e4d6d" /><Relationship Type="http://schemas.openxmlformats.org/officeDocument/2006/relationships/notesMaster" Target="/ppt/notesMasters/notesMaster1.xml" Id="R27e304b439a64f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4c12d218eb64ee5" /><Relationship Type="http://schemas.openxmlformats.org/officeDocument/2006/relationships/notesMaster" Target="/ppt/notesMasters/notesMaster1.xml" Id="Rce132772630e4b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a7f7e6f4a944b16" /><Relationship Type="http://schemas.openxmlformats.org/officeDocument/2006/relationships/notesMaster" Target="/ppt/notesMasters/notesMaster1.xml" Id="R71207ed6e5a342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be53a140bb4e2c" /><Relationship Type="http://schemas.openxmlformats.org/officeDocument/2006/relationships/notesMaster" Target="/ppt/notesMasters/notesMaster1.xml" Id="Rdc446feedcf448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3b9bd1255d40e3" /><Relationship Type="http://schemas.openxmlformats.org/officeDocument/2006/relationships/notesMaster" Target="/ppt/notesMasters/notesMaster1.xml" Id="Ra3642c6edd3541d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8014aad6dc54b7c" /><Relationship Type="http://schemas.openxmlformats.org/officeDocument/2006/relationships/notesMaster" Target="/ppt/notesMasters/notesMaster1.xml" Id="R43ada94f81f5475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6ad51301cfe4d32" /><Relationship Type="http://schemas.openxmlformats.org/officeDocument/2006/relationships/notesMaster" Target="/ppt/notesMasters/notesMaster1.xml" Id="R4dca0ba729b447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1e1fe4c9e934a7c" /><Relationship Type="http://schemas.openxmlformats.org/officeDocument/2006/relationships/notesMaster" Target="/ppt/notesMasters/notesMaster1.xml" Id="R66e558f2d4c6476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0546bff87c4a46" /><Relationship Type="http://schemas.openxmlformats.org/officeDocument/2006/relationships/notesMaster" Target="/ppt/notesMasters/notesMaster1.xml" Id="R5e8e2b9afae7462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fba7d14a57b41c3" /><Relationship Type="http://schemas.openxmlformats.org/officeDocument/2006/relationships/notesMaster" Target="/ppt/notesMasters/notesMaster1.xml" Id="R3921606c02cf480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a567b1b98b74798" /><Relationship Type="http://schemas.openxmlformats.org/officeDocument/2006/relationships/notesMaster" Target="/ppt/notesMasters/notesMaster1.xml" Id="Rf0039202fdd54f0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985da701e0c4843" /><Relationship Type="http://schemas.openxmlformats.org/officeDocument/2006/relationships/notesMaster" Target="/ppt/notesMasters/notesMaster1.xml" Id="R41294f2539a349c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bfefa36533847b8" /><Relationship Type="http://schemas.openxmlformats.org/officeDocument/2006/relationships/notesMaster" Target="/ppt/notesMasters/notesMaster1.xml" Id="R99364a7f8b424c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4d7f134ce46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0de79f75a4c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560567b3649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8815e1f6a45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dde16bd5647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395c001de472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7202d4691424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9ee9fc4b346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6bf3e18ba4c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348d72eaa4c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023993f7648f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BE04CF-F826-4E61-9F30-B0547ADD7E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3EB36C6-91CD-482B-BD7E-DDA1FE6571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C3D71F-6FBD-4E8B-A140-670AF5D374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06F053-EA63-4E20-8A9F-0BF8D63475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4711B8-C2E4-44B2-9C50-70E0AE2FCE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D41874-68AB-4303-905B-C50236CEF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B2687F-65F1-4C34-AF07-1608826187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6FEDCA-7209-451C-A63B-69C0337E32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FF73-5D90-4C3C-8F7F-E0E3B0E60B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1FAF2C-9A1E-46E5-BEB4-19715C0996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109AB3-062F-46E7-A02D-5A2238F7A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D0D0EB1-4262-4D84-BE54-31A18006C9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D703F4-E5EB-4E6F-99D1-0A56DC41E7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78F0E9-0648-4284-B7A5-40514A91AE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01A9CF-DF38-44D2-8051-6EA5D746DD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F0C55B-C5E8-4DB5-8FF4-3AFEA8E5D2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3912EA-E3C1-496F-940F-446A7C0BAA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B622E90-2497-4FDC-BA53-8CD99EB894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F829227-8545-4844-B1F9-541D27CAB2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C4C52A-DC62-4D0C-8BCD-F114A7CD0D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E84F3FA-25FA-4392-A688-6BB96EBB9E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625F5C-F032-467C-B59C-0C3E9A6B1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C5750A-B175-4DC7-AF99-C9DB8437C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D557BB9-29E1-4B99-B9CA-099EFADD35F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876DA25-56ED-4179-9E70-D936116D881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33DD12E-643F-4D7E-A044-BFFF131175A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5B949FF-B519-446C-AC10-BAA63A06B3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8FCCD14-2A3A-4B90-A152-FAC870ED8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03147B0-E104-4358-8166-84831ECBDB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1B0789-5797-45D8-A5B9-2C2740012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95EC483-46DD-421B-B2C6-3B27DA7259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E654667-CB68-4232-8C30-388F2FC6B5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106F611-7295-4E3D-AB08-82E641523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6B657A5-C3A0-46A4-B1F5-62C8C06F1F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C0C92B3-2565-4AA4-91F6-FD1FC3A6B7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41E72DC-BAFC-4F37-9FB0-4E864F3111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F513D6-DB48-4298-82DC-57CB9479F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8CDCED-AFA6-4A05-A0C9-6D11E37E89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254330C-5AD0-4AE5-96F5-E2AB485EE3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0759D6-169A-44D6-BCE9-74373A4265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777D2B-73F2-415B-AD95-5103B65B88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636624B-0B0D-42B3-8764-2E70B25F97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0C3163-FE98-4D29-B642-A2FC04D16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EBC7EF4-5B76-49C0-80E0-937B01329B5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936FAF-6C14-4A51-AD50-37F849C02B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EC96FA-33AF-411E-A33D-5C8954DD60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A5B7456-2947-4A97-82F9-0E7B02AD2D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93B9D9-ECA2-4479-877A-8A765BC992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341313-721F-4494-9115-C8258C279E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CE757F-DECC-4151-8805-BC1FA61018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E0F373-FD58-4B45-8AA8-EBB3F08DFC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2EAB1C-46BF-4A6A-ACE7-454EC19C40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79CCF2-9916-441D-840C-E52BB1B45D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8CD58A1-577E-46F0-8663-56C63D746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0BB73A-44CA-45DE-9F17-8853DA2CF9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1C3643-17D5-464A-A304-F13BF68C0F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91F68F-1303-4BF6-8D10-7BAA1D2B23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80D88D-201F-4F61-B08A-F577F3C12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74ba70c274c10" /><Relationship Type="http://schemas.openxmlformats.org/officeDocument/2006/relationships/slideLayout" Target="/ppt/slideLayouts/slideLayout1.xml" Id="Rd3464950bc4c48df" /><Relationship Type="http://schemas.openxmlformats.org/officeDocument/2006/relationships/slideLayout" Target="/ppt/slideLayouts/slideLayout2.xml" Id="R7c837e599fb74463" /><Relationship Type="http://schemas.openxmlformats.org/officeDocument/2006/relationships/slideLayout" Target="/ppt/slideLayouts/slideLayout3.xml" Id="Rfdf78c6b00be4642" /><Relationship Type="http://schemas.openxmlformats.org/officeDocument/2006/relationships/slideLayout" Target="/ppt/slideLayouts/slideLayout4.xml" Id="R0b562d8c142d4a12" /><Relationship Type="http://schemas.openxmlformats.org/officeDocument/2006/relationships/slideLayout" Target="/ppt/slideLayouts/slideLayout5.xml" Id="R172585cdf4314f8a" /><Relationship Type="http://schemas.openxmlformats.org/officeDocument/2006/relationships/slideLayout" Target="/ppt/slideLayouts/slideLayout6.xml" Id="R56dbce60f91d4b38" /><Relationship Type="http://schemas.openxmlformats.org/officeDocument/2006/relationships/slideLayout" Target="/ppt/slideLayouts/slideLayout7.xml" Id="Rcce16be5a0254e47" /><Relationship Type="http://schemas.openxmlformats.org/officeDocument/2006/relationships/slideLayout" Target="/ppt/slideLayouts/slideLayout8.xml" Id="R12f56ec3dd614038" /><Relationship Type="http://schemas.openxmlformats.org/officeDocument/2006/relationships/slideLayout" Target="/ppt/slideLayouts/slideLayout9.xml" Id="R26b1f136581d4c8f" /><Relationship Type="http://schemas.openxmlformats.org/officeDocument/2006/relationships/slideLayout" Target="/ppt/slideLayouts/slideLayout10.xml" Id="R33efb969b7ab4166" /><Relationship Type="http://schemas.openxmlformats.org/officeDocument/2006/relationships/slideLayout" Target="/ppt/slideLayouts/slideLayout11.xml" Id="R70d00c1745a247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6F0C17C-BC03-40BB-B95C-6CA1D4A69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1D6D80-CFE6-46B2-827A-FB676B22F0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FE90A7-EEC2-4D93-BFB6-412FD572613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21642A-A67A-4139-9BF0-6986B65788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53CDE7-66FD-4A80-A29C-9DBEB58FD5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64950bc4c48df"/>
    <p:sldLayoutId xmlns:r="http://schemas.openxmlformats.org/officeDocument/2006/relationships" id="2147483650" r:id="R7c837e599fb74463"/>
    <p:sldLayoutId xmlns:r="http://schemas.openxmlformats.org/officeDocument/2006/relationships" id="2147483651" r:id="Rfdf78c6b00be4642"/>
    <p:sldLayoutId xmlns:r="http://schemas.openxmlformats.org/officeDocument/2006/relationships" id="2147483652" r:id="R0b562d8c142d4a12"/>
    <p:sldLayoutId xmlns:r="http://schemas.openxmlformats.org/officeDocument/2006/relationships" id="2147483653" r:id="R172585cdf4314f8a"/>
    <p:sldLayoutId xmlns:r="http://schemas.openxmlformats.org/officeDocument/2006/relationships" id="2147483654" r:id="R56dbce60f91d4b38"/>
    <p:sldLayoutId xmlns:r="http://schemas.openxmlformats.org/officeDocument/2006/relationships" id="2147483655" r:id="Rcce16be5a0254e47"/>
    <p:sldLayoutId xmlns:r="http://schemas.openxmlformats.org/officeDocument/2006/relationships" id="2147483656" r:id="R12f56ec3dd614038"/>
    <p:sldLayoutId xmlns:r="http://schemas.openxmlformats.org/officeDocument/2006/relationships" id="2147483657" r:id="R26b1f136581d4c8f"/>
    <p:sldLayoutId xmlns:r="http://schemas.openxmlformats.org/officeDocument/2006/relationships" id="2147483658" r:id="R33efb969b7ab4166"/>
    <p:sldLayoutId xmlns:r="http://schemas.openxmlformats.org/officeDocument/2006/relationships" id="2147483659" r:id="R70d00c1745a24792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3617623a1347e4" /><Relationship Type="http://schemas.openxmlformats.org/officeDocument/2006/relationships/image" Target="/ppt/media/image.jpeg" Id="R4264136211714146" /><Relationship Type="http://schemas.openxmlformats.org/officeDocument/2006/relationships/image" Target="/ppt/media/image.png" Id="R26338e0693cf4f3f" /><Relationship Type="http://schemas.openxmlformats.org/officeDocument/2006/relationships/image" Target="/ppt/media/image2.png" Id="R9306ebc0c9ca426d" /><Relationship Type="http://schemas.openxmlformats.org/officeDocument/2006/relationships/notesSlide" Target="/ppt/notesSlides/notesSlide1.xml" Id="R42d24981683d42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dec56d04b2444b" /><Relationship Type="http://schemas.openxmlformats.org/officeDocument/2006/relationships/image" Target="/ppt/media/image2.jpeg" Id="R248c2d699e6b4968" /><Relationship Type="http://schemas.openxmlformats.org/officeDocument/2006/relationships/image" Target="/ppt/media/image2.png" Id="Rf47d016018604de3" /><Relationship Type="http://schemas.openxmlformats.org/officeDocument/2006/relationships/image" Target="/ppt/media/image3.png" Id="R924cfc5e256843ef" /><Relationship Type="http://schemas.openxmlformats.org/officeDocument/2006/relationships/image" Target="/ppt/media/image4.png" Id="R865e051ffb9b4b71" /><Relationship Type="http://schemas.openxmlformats.org/officeDocument/2006/relationships/image" Target="/ppt/media/image5.png" Id="R4717dd82100f4778" /><Relationship Type="http://schemas.openxmlformats.org/officeDocument/2006/relationships/notesSlide" Target="/ppt/notesSlides/notesSlide2.xml" Id="R08bb705ca40147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74cd17de6d4778" /><Relationship Type="http://schemas.openxmlformats.org/officeDocument/2006/relationships/image" Target="/ppt/media/image2.jpeg" Id="Rffede93572cd419c" /><Relationship Type="http://schemas.openxmlformats.org/officeDocument/2006/relationships/image" Target="/ppt/media/image2.png" Id="R95fae97cead2412f" /><Relationship Type="http://schemas.openxmlformats.org/officeDocument/2006/relationships/notesSlide" Target="/ppt/notesSlides/notesSlide3.xml" Id="R4341cb1f9cc3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6557a9d4e04e6b" /><Relationship Type="http://schemas.openxmlformats.org/officeDocument/2006/relationships/image" Target="/ppt/media/image.jpeg" Id="R880dcb52c8e8474e" /><Relationship Type="http://schemas.openxmlformats.org/officeDocument/2006/relationships/image" Target="/ppt/media/image3.jpeg" Id="R1c53a8b841f54bc6" /><Relationship Type="http://schemas.openxmlformats.org/officeDocument/2006/relationships/image" Target="/ppt/media/image4.jpeg" Id="Rf279264beb854f7b" /><Relationship Type="http://schemas.openxmlformats.org/officeDocument/2006/relationships/image" Target="/ppt/media/image6.png" Id="R1e6289a752424333" /><Relationship Type="http://schemas.openxmlformats.org/officeDocument/2006/relationships/image" Target="/ppt/media/image5.jpeg" Id="R94ffb58b7d1c4554" /><Relationship Type="http://schemas.openxmlformats.org/officeDocument/2006/relationships/image" Target="/ppt/media/image7.png" Id="R24f10c7e2e184631" /><Relationship Type="http://schemas.openxmlformats.org/officeDocument/2006/relationships/image" Target="/ppt/media/image8.png" Id="R303714dcb6f5424c" /><Relationship Type="http://schemas.openxmlformats.org/officeDocument/2006/relationships/image" Target="/ppt/media/image2.png" Id="Rdf45b436b09c4d51" /><Relationship Type="http://schemas.openxmlformats.org/officeDocument/2006/relationships/notesSlide" Target="/ppt/notesSlides/notesSlide4.xml" Id="R25d24c216c514f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e3389e76b44bb4" /><Relationship Type="http://schemas.openxmlformats.org/officeDocument/2006/relationships/image" Target="/ppt/media/image.jpeg" Id="R34f0ccf9f96945c7" /><Relationship Type="http://schemas.openxmlformats.org/officeDocument/2006/relationships/image" Target="/ppt/media/image9.png" Id="Re1e3d08dc4634101" /><Relationship Type="http://schemas.openxmlformats.org/officeDocument/2006/relationships/image" Target="/ppt/media/image10.png" Id="Rf20083da8b0f4ed5" /><Relationship Type="http://schemas.openxmlformats.org/officeDocument/2006/relationships/image" Target="/ppt/media/image2.png" Id="R0d70242aeb314e34" /><Relationship Type="http://schemas.openxmlformats.org/officeDocument/2006/relationships/notesSlide" Target="/ppt/notesSlides/notesSlide5.xml" Id="R6174c4e4e6f149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bd48fee2cb4496" /><Relationship Type="http://schemas.openxmlformats.org/officeDocument/2006/relationships/image" Target="/ppt/media/image.jpeg" Id="R964353b255304a7a" /><Relationship Type="http://schemas.openxmlformats.org/officeDocument/2006/relationships/image" Target="/ppt/media/image6.jpeg" Id="R379f0abb976848f3" /><Relationship Type="http://schemas.openxmlformats.org/officeDocument/2006/relationships/image" Target="/ppt/media/image7.jpeg" Id="Re65fe5b2145148f0" /><Relationship Type="http://schemas.openxmlformats.org/officeDocument/2006/relationships/image" Target="/ppt/media/image2.png" Id="R50f5263124c84427" /><Relationship Type="http://schemas.openxmlformats.org/officeDocument/2006/relationships/notesSlide" Target="/ppt/notesSlides/notesSlide6.xml" Id="R9f5f39a22b4c4c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9190713c954c65" /><Relationship Type="http://schemas.openxmlformats.org/officeDocument/2006/relationships/image" Target="/ppt/media/image.jpeg" Id="R42cd05c1ccfc472a" /><Relationship Type="http://schemas.openxmlformats.org/officeDocument/2006/relationships/image" Target="/ppt/media/image2.png" Id="R61525f1b1d894a8f" /><Relationship Type="http://schemas.openxmlformats.org/officeDocument/2006/relationships/notesSlide" Target="/ppt/notesSlides/notesSlide7.xml" Id="Rd704c49f90844e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cbbfbb73fa4cca" /><Relationship Type="http://schemas.openxmlformats.org/officeDocument/2006/relationships/image" Target="/ppt/media/image8.jpeg" Id="R41a9281948344343" /><Relationship Type="http://schemas.openxmlformats.org/officeDocument/2006/relationships/image" Target="/ppt/media/image2.png" Id="R523f563d37c24abf" /><Relationship Type="http://schemas.openxmlformats.org/officeDocument/2006/relationships/notesSlide" Target="/ppt/notesSlides/notesSlide8.xml" Id="R37f228800a5e4b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093c328bf34687" /><Relationship Type="http://schemas.openxmlformats.org/officeDocument/2006/relationships/image" Target="/ppt/media/image.jpeg" Id="Reb2d12239d284770" /><Relationship Type="http://schemas.openxmlformats.org/officeDocument/2006/relationships/image" Target="/ppt/media/image11.png" Id="Re6eaaf05c979439a" /><Relationship Type="http://schemas.openxmlformats.org/officeDocument/2006/relationships/image" Target="/ppt/media/image.svg" Id="R0c64aaf1acc04874" /><Relationship Type="http://schemas.openxmlformats.org/officeDocument/2006/relationships/image" Target="/ppt/media/image12.png" Id="Rfa8894fed75f4f04" /><Relationship Type="http://schemas.openxmlformats.org/officeDocument/2006/relationships/image" Target="/ppt/media/image2.svg" Id="R9b7adc2f750442a9" /><Relationship Type="http://schemas.openxmlformats.org/officeDocument/2006/relationships/image" Target="/ppt/media/image13.png" Id="Rb058411b13904961" /><Relationship Type="http://schemas.openxmlformats.org/officeDocument/2006/relationships/image" Target="/ppt/media/image3.svg" Id="Rc6432ba557bf4014" /><Relationship Type="http://schemas.openxmlformats.org/officeDocument/2006/relationships/image" Target="/ppt/media/image14.png" Id="R1b5f208d7eaa4c43" /><Relationship Type="http://schemas.openxmlformats.org/officeDocument/2006/relationships/image" Target="/ppt/media/image2.png" Id="R9201426cb7774a38" /><Relationship Type="http://schemas.openxmlformats.org/officeDocument/2006/relationships/notesSlide" Target="/ppt/notesSlides/notesSlide9.xml" Id="R9fb587cd599748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854291f4894f84" /><Relationship Type="http://schemas.openxmlformats.org/officeDocument/2006/relationships/image" Target="/ppt/media/image9.jpeg" Id="R63d218c2245140d8" /><Relationship Type="http://schemas.openxmlformats.org/officeDocument/2006/relationships/image" Target="/ppt/media/image2.png" Id="R8101a139cca842aa" /><Relationship Type="http://schemas.openxmlformats.org/officeDocument/2006/relationships/notesSlide" Target="/ppt/notesSlides/notesSlide10.xml" Id="R0bac9bfa164044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a1572e352642bf" /><Relationship Type="http://schemas.openxmlformats.org/officeDocument/2006/relationships/image" Target="/ppt/media/image.jpeg" Id="R32baeb3435734f85" /><Relationship Type="http://schemas.openxmlformats.org/officeDocument/2006/relationships/image" Target="/ppt/media/image2.png" Id="R51889422ad474177" /><Relationship Type="http://schemas.openxmlformats.org/officeDocument/2006/relationships/notesSlide" Target="/ppt/notesSlides/notesSlide11.xml" Id="R33d0431be90447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d2c5ea9a3c45ab" /><Relationship Type="http://schemas.openxmlformats.org/officeDocument/2006/relationships/image" Target="/ppt/media/image.jpeg" Id="R59f0bc5cd60d45eb" /><Relationship Type="http://schemas.openxmlformats.org/officeDocument/2006/relationships/image" Target="/ppt/media/image2.png" Id="Rbedeafe7b8704236" /><Relationship Type="http://schemas.openxmlformats.org/officeDocument/2006/relationships/notesSlide" Target="/ppt/notesSlides/notesSlide12.xml" Id="R39b4eecba87841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e5cd6f87ad4b33" /><Relationship Type="http://schemas.openxmlformats.org/officeDocument/2006/relationships/image" Target="/ppt/media/image.jpeg" Id="R729349abfd6e45c7" /><Relationship Type="http://schemas.openxmlformats.org/officeDocument/2006/relationships/image" Target="/ppt/media/image2.png" Id="R602f2ef989064bf9" /><Relationship Type="http://schemas.openxmlformats.org/officeDocument/2006/relationships/notesSlide" Target="/ppt/notesSlides/notesSlide13.xml" Id="Ra9a4985d7dcd45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d0c833ac914ab4" /><Relationship Type="http://schemas.openxmlformats.org/officeDocument/2006/relationships/image" Target="/ppt/media/image.jpeg" Id="R9a5dcfa2cbb64f40" /><Relationship Type="http://schemas.openxmlformats.org/officeDocument/2006/relationships/image" Target="/ppt/media/image15.png" Id="R1d088cefbbf84af8" /><Relationship Type="http://schemas.openxmlformats.org/officeDocument/2006/relationships/image" Target="/ppt/media/image2.png" Id="R06a912920b3c40b6" /><Relationship Type="http://schemas.openxmlformats.org/officeDocument/2006/relationships/notesSlide" Target="/ppt/notesSlides/notesSlide14.xml" Id="Rf448a431c61049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8fdfc1ac794959" /><Relationship Type="http://schemas.openxmlformats.org/officeDocument/2006/relationships/image" Target="/ppt/media/image.jpeg" Id="R2991720662cd41be" /><Relationship Type="http://schemas.openxmlformats.org/officeDocument/2006/relationships/image" Target="/ppt/media/image10.jpeg" Id="R9fd05aa559e2490d" /><Relationship Type="http://schemas.openxmlformats.org/officeDocument/2006/relationships/image" Target="/ppt/media/image11.jpeg" Id="R194869287ec44ebf" /><Relationship Type="http://schemas.openxmlformats.org/officeDocument/2006/relationships/image" Target="/ppt/media/image12.jpeg" Id="Rad83aa4c334e4740" /><Relationship Type="http://schemas.openxmlformats.org/officeDocument/2006/relationships/image" Target="/ppt/media/image13.jpeg" Id="R6b0d5c7fd7354185" /><Relationship Type="http://schemas.openxmlformats.org/officeDocument/2006/relationships/image" Target="/ppt/media/image2.png" Id="R4dd07aeecbd54506" /><Relationship Type="http://schemas.openxmlformats.org/officeDocument/2006/relationships/notesSlide" Target="/ppt/notesSlides/notesSlide15.xml" Id="Rf0553ceee85d41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db0a38c4fa41c5" /><Relationship Type="http://schemas.openxmlformats.org/officeDocument/2006/relationships/image" Target="/ppt/media/image.jpeg" Id="R93186b0c4c58417d" /><Relationship Type="http://schemas.openxmlformats.org/officeDocument/2006/relationships/image" Target="/ppt/media/image16.png" Id="Re953b3cd76fb491d" /><Relationship Type="http://schemas.openxmlformats.org/officeDocument/2006/relationships/image" Target="/ppt/media/image2.png" Id="R4b9ba68cb5264be7" /><Relationship Type="http://schemas.openxmlformats.org/officeDocument/2006/relationships/notesSlide" Target="/ppt/notesSlides/notesSlide16.xml" Id="Rb540ef71783d4a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5587135d93406f" /><Relationship Type="http://schemas.openxmlformats.org/officeDocument/2006/relationships/image" Target="/ppt/media/image.jpeg" Id="Rcc97506d24f44443" /><Relationship Type="http://schemas.openxmlformats.org/officeDocument/2006/relationships/image" Target="/ppt/media/image17.png" Id="R5bec1b510a564904" /><Relationship Type="http://schemas.openxmlformats.org/officeDocument/2006/relationships/image" Target="/ppt/media/image2.png" Id="R89bb0e9fc916462a" /><Relationship Type="http://schemas.openxmlformats.org/officeDocument/2006/relationships/notesSlide" Target="/ppt/notesSlides/notesSlide17.xml" Id="Rdea9606f18c74f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53982900e34370" /><Relationship Type="http://schemas.openxmlformats.org/officeDocument/2006/relationships/image" Target="/ppt/media/image.jpeg" Id="Rd97e27aee8a44f6a" /><Relationship Type="http://schemas.openxmlformats.org/officeDocument/2006/relationships/image" Target="/ppt/media/image18.png" Id="Rd0155c2882a54a6d" /><Relationship Type="http://schemas.openxmlformats.org/officeDocument/2006/relationships/image" Target="/ppt/media/image2.png" Id="Rcd5c14b44da8465c" /><Relationship Type="http://schemas.openxmlformats.org/officeDocument/2006/relationships/notesSlide" Target="/ppt/notesSlides/notesSlide18.xml" Id="R037d757e405945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0d7771e2074a0a" /><Relationship Type="http://schemas.openxmlformats.org/officeDocument/2006/relationships/image" Target="/ppt/media/image.jpeg" Id="Rdb1d1376dd5f45ca" /><Relationship Type="http://schemas.openxmlformats.org/officeDocument/2006/relationships/image" Target="/ppt/media/image19.png" Id="Rc6deb1c0f9e24a4e" /><Relationship Type="http://schemas.openxmlformats.org/officeDocument/2006/relationships/image" Target="/ppt/media/image20.png" Id="R6515092fd3d5474a" /><Relationship Type="http://schemas.openxmlformats.org/officeDocument/2006/relationships/image" Target="/ppt/media/image21.png" Id="R1b5881280f5944c4" /><Relationship Type="http://schemas.openxmlformats.org/officeDocument/2006/relationships/image" Target="/ppt/media/image22.png" Id="Rffbfdb33449d4a03" /><Relationship Type="http://schemas.openxmlformats.org/officeDocument/2006/relationships/image" Target="/ppt/media/image2.png" Id="R0d5e903eaee94e64" /><Relationship Type="http://schemas.openxmlformats.org/officeDocument/2006/relationships/notesSlide" Target="/ppt/notesSlides/notesSlide19.xml" Id="R2cabade080f741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fadd7c69df487f" /><Relationship Type="http://schemas.openxmlformats.org/officeDocument/2006/relationships/image" Target="/ppt/media/image.jpeg" Id="R022b7922d6cc46db" /><Relationship Type="http://schemas.openxmlformats.org/officeDocument/2006/relationships/image" Target="/ppt/media/image2.png" Id="R29adeb1eb4c542b7" /><Relationship Type="http://schemas.openxmlformats.org/officeDocument/2006/relationships/notesSlide" Target="/ppt/notesSlides/notesSlide20.xml" Id="R949aceb400c249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c99e10454d4af6" /><Relationship Type="http://schemas.openxmlformats.org/officeDocument/2006/relationships/image" Target="/ppt/media/image.jpeg" Id="R043e7b8c9b0c4511" /><Relationship Type="http://schemas.openxmlformats.org/officeDocument/2006/relationships/image" Target="/ppt/media/image2.png" Id="Rd84a8bbd7a194f0f" /><Relationship Type="http://schemas.openxmlformats.org/officeDocument/2006/relationships/image" Target="/ppt/media/image23.png" Id="R103dfb374acb469a" /><Relationship Type="http://schemas.openxmlformats.org/officeDocument/2006/relationships/image" Target="/ppt/media/image24.png" Id="R40c2a76b36c14c5c" /><Relationship Type="http://schemas.openxmlformats.org/officeDocument/2006/relationships/image" Target="/ppt/media/image25.png" Id="R89867c7322744a0b" /><Relationship Type="http://schemas.openxmlformats.org/officeDocument/2006/relationships/notesSlide" Target="/ppt/notesSlides/notesSlide21.xml" Id="Reff41c0846204b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8ad42577cd4593" /><Relationship Type="http://schemas.openxmlformats.org/officeDocument/2006/relationships/image" Target="/ppt/media/image.jpeg" Id="R3a49c46e47244be9" /><Relationship Type="http://schemas.openxmlformats.org/officeDocument/2006/relationships/image" Target="/ppt/media/image2.png" Id="R8fb61c3444a94930" /><Relationship Type="http://schemas.openxmlformats.org/officeDocument/2006/relationships/image" Target="/ppt/media/image14.jpeg" Id="R171dad9a2cd747b8" /><Relationship Type="http://schemas.openxmlformats.org/officeDocument/2006/relationships/image" Target="/ppt/media/image26.png" Id="Rdf68f6bea8704e09" /><Relationship Type="http://schemas.openxmlformats.org/officeDocument/2006/relationships/notesSlide" Target="/ppt/notesSlides/notesSlide22.xml" Id="Ra3b5b6adaee54a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784d5881ee428b" /><Relationship Type="http://schemas.openxmlformats.org/officeDocument/2006/relationships/image" Target="/ppt/media/image.jpeg" Id="R8e0a7a0296e0459d" /><Relationship Type="http://schemas.openxmlformats.org/officeDocument/2006/relationships/image" Target="/ppt/media/image2.png" Id="R3ae5146ea53f4dd5" /><Relationship Type="http://schemas.openxmlformats.org/officeDocument/2006/relationships/image" Target="/ppt/media/image14.jpeg" Id="Ra712d1aae3014ef8" /><Relationship Type="http://schemas.openxmlformats.org/officeDocument/2006/relationships/image" Target="/ppt/media/image26.png" Id="R8b127d9ad48444d5" /><Relationship Type="http://schemas.openxmlformats.org/officeDocument/2006/relationships/notesSlide" Target="/ppt/notesSlides/notesSlide23.xml" Id="R1219987e090345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f3fccac46e4411" /><Relationship Type="http://schemas.openxmlformats.org/officeDocument/2006/relationships/image" Target="/ppt/media/image.jpeg" Id="Re1aad17d69274f6c" /><Relationship Type="http://schemas.openxmlformats.org/officeDocument/2006/relationships/image" Target="/ppt/media/image2.png" Id="R8ad6be4cb9e24120" /><Relationship Type="http://schemas.openxmlformats.org/officeDocument/2006/relationships/image" Target="/ppt/media/image27.png" Id="R8fc00f817ba24b91" /><Relationship Type="http://schemas.openxmlformats.org/officeDocument/2006/relationships/notesSlide" Target="/ppt/notesSlides/notesSlide24.xml" Id="R8926eb138d3e47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7a5cb9cf9e493e" /><Relationship Type="http://schemas.openxmlformats.org/officeDocument/2006/relationships/image" Target="/ppt/media/image.jpeg" Id="Rcd880218b8094194" /><Relationship Type="http://schemas.openxmlformats.org/officeDocument/2006/relationships/image" Target="/ppt/media/image2.png" Id="Rdfa9f8b1d8e24956" /><Relationship Type="http://schemas.openxmlformats.org/officeDocument/2006/relationships/image" Target="/ppt/media/image28.png" Id="Rb8f86123fda24774" /><Relationship Type="http://schemas.openxmlformats.org/officeDocument/2006/relationships/notesSlide" Target="/ppt/notesSlides/notesSlide25.xml" Id="R64f5d1b320364a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908526d71c4e4b" /><Relationship Type="http://schemas.openxmlformats.org/officeDocument/2006/relationships/image" Target="/ppt/media/image.jpeg" Id="R7a9ef109d3bb4be4" /><Relationship Type="http://schemas.openxmlformats.org/officeDocument/2006/relationships/image" Target="/ppt/media/image2.png" Id="Rd1d82b5089c14b1f" /><Relationship Type="http://schemas.openxmlformats.org/officeDocument/2006/relationships/image" Target="/ppt/media/image29.png" Id="R9fae7a31ef304437" /><Relationship Type="http://schemas.openxmlformats.org/officeDocument/2006/relationships/notesSlide" Target="/ppt/notesSlides/notesSlide26.xml" Id="Rfba9865a8c2243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6bc88bdcef4107" /><Relationship Type="http://schemas.openxmlformats.org/officeDocument/2006/relationships/image" Target="/ppt/media/image.jpeg" Id="R62bc2beb39084876" /><Relationship Type="http://schemas.openxmlformats.org/officeDocument/2006/relationships/image" Target="/ppt/media/image2.png" Id="R660d5131aa7a4398" /><Relationship Type="http://schemas.openxmlformats.org/officeDocument/2006/relationships/notesSlide" Target="/ppt/notesSlides/notesSlide27.xml" Id="R55ff754f6b4f4bc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39238f4500446f" /><Relationship Type="http://schemas.openxmlformats.org/officeDocument/2006/relationships/image" Target="/ppt/media/image.jpeg" Id="Rb27a94b848f74566" /><Relationship Type="http://schemas.openxmlformats.org/officeDocument/2006/relationships/image" Target="/ppt/media/image2.png" Id="Rdaa86e8e943740b2" /><Relationship Type="http://schemas.openxmlformats.org/officeDocument/2006/relationships/notesSlide" Target="/ppt/notesSlides/notesSlide28.xml" Id="Ra61ee0d9386b484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91cbc952c94628" /><Relationship Type="http://schemas.openxmlformats.org/officeDocument/2006/relationships/image" Target="/ppt/media/image.jpeg" Id="R0d88399e1ebd4919" /><Relationship Type="http://schemas.openxmlformats.org/officeDocument/2006/relationships/image" Target="/ppt/media/image19.png" Id="R38c59ce328964b97" /><Relationship Type="http://schemas.openxmlformats.org/officeDocument/2006/relationships/image" Target="/ppt/media/image20.png" Id="R8a38954c7b2b4d1d" /><Relationship Type="http://schemas.openxmlformats.org/officeDocument/2006/relationships/image" Target="/ppt/media/image21.png" Id="Rfbd2146a3abf40c4" /><Relationship Type="http://schemas.openxmlformats.org/officeDocument/2006/relationships/image" Target="/ppt/media/image22.png" Id="Rd0ca800a66eb453a" /><Relationship Type="http://schemas.openxmlformats.org/officeDocument/2006/relationships/image" Target="/ppt/media/image2.png" Id="R366a119cd82545a2" /><Relationship Type="http://schemas.openxmlformats.org/officeDocument/2006/relationships/notesSlide" Target="/ppt/notesSlides/notesSlide29.xml" Id="R51c1b8ac3b05448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a9c15488364f71" /><Relationship Type="http://schemas.openxmlformats.org/officeDocument/2006/relationships/image" Target="/ppt/media/image.jpeg" Id="R487d5838628e4ea2" /><Relationship Type="http://schemas.openxmlformats.org/officeDocument/2006/relationships/image" Target="/ppt/media/image2.png" Id="R3f9dc4bb411a43a3" /><Relationship Type="http://schemas.openxmlformats.org/officeDocument/2006/relationships/image" Target="/ppt/media/image15.jpeg" Id="R0806362469a7472c" /><Relationship Type="http://schemas.openxmlformats.org/officeDocument/2006/relationships/image" Target="/ppt/media/image16.jpeg" Id="R2924d5ffbd644036" /><Relationship Type="http://schemas.openxmlformats.org/officeDocument/2006/relationships/image" Target="/ppt/media/image17.jpeg" Id="Rac4260d47a944112" /><Relationship Type="http://schemas.openxmlformats.org/officeDocument/2006/relationships/image" Target="/ppt/media/image18.jpeg" Id="R9a4f1501bdd347f1" /><Relationship Type="http://schemas.openxmlformats.org/officeDocument/2006/relationships/image" Target="/ppt/media/image19.jpeg" Id="R2a660d0062a041f9" /><Relationship Type="http://schemas.openxmlformats.org/officeDocument/2006/relationships/image" Target="/ppt/media/image20.jpeg" Id="R04091173308748d6" /><Relationship Type="http://schemas.openxmlformats.org/officeDocument/2006/relationships/image" Target="/ppt/media/image21.jpeg" Id="R91474414ee3b402b" /><Relationship Type="http://schemas.openxmlformats.org/officeDocument/2006/relationships/image" Target="/ppt/media/image22.jpeg" Id="R3c3e9edb7cf14478" /><Relationship Type="http://schemas.openxmlformats.org/officeDocument/2006/relationships/image" Target="/ppt/media/image30.png" Id="Re1e7a4b813fc430d" /><Relationship Type="http://schemas.openxmlformats.org/officeDocument/2006/relationships/image" Target="/ppt/media/image4.svg" Id="Rc422b76296bc4ff3" /><Relationship Type="http://schemas.openxmlformats.org/officeDocument/2006/relationships/notesSlide" Target="/ppt/notesSlides/notesSlide30.xml" Id="Rbffb485a12dc4c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676a55c7084b0c" /><Relationship Type="http://schemas.openxmlformats.org/officeDocument/2006/relationships/image" Target="/ppt/media/image.jpeg" Id="R211494d5ee5a4a51" /><Relationship Type="http://schemas.openxmlformats.org/officeDocument/2006/relationships/image" Target="/ppt/media/image2.png" Id="R1c102baf1f384807" /><Relationship Type="http://schemas.openxmlformats.org/officeDocument/2006/relationships/notesSlide" Target="/ppt/notesSlides/notesSlide31.xml" Id="R8928bb686cba426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35d14a87d74b91" /><Relationship Type="http://schemas.openxmlformats.org/officeDocument/2006/relationships/image" Target="/ppt/media/image.jpeg" Id="R287e715327cf465e" /><Relationship Type="http://schemas.openxmlformats.org/officeDocument/2006/relationships/image" Target="/ppt/media/image2.png" Id="R5bfd713e84414e64" /><Relationship Type="http://schemas.openxmlformats.org/officeDocument/2006/relationships/image" Target="/ppt/media/image23.jpeg" Id="R65101fdba9db4f76" /><Relationship Type="http://schemas.openxmlformats.org/officeDocument/2006/relationships/notesSlide" Target="/ppt/notesSlides/notesSlide32.xml" Id="Rb6e8e146c9234b3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9d34c015184d85" /><Relationship Type="http://schemas.openxmlformats.org/officeDocument/2006/relationships/image" Target="/ppt/media/image.jpeg" Id="R8d1f9bdd9a0646ca" /><Relationship Type="http://schemas.openxmlformats.org/officeDocument/2006/relationships/image" Target="/ppt/media/image2.png" Id="R92afca15d9454f52" /><Relationship Type="http://schemas.openxmlformats.org/officeDocument/2006/relationships/notesSlide" Target="/ppt/notesSlides/notesSlide33.xml" Id="R620b3dec27794f9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98a4d99e934047" /><Relationship Type="http://schemas.openxmlformats.org/officeDocument/2006/relationships/image" Target="/ppt/media/image.jpeg" Id="Rd406dd844fbd4da1" /><Relationship Type="http://schemas.openxmlformats.org/officeDocument/2006/relationships/image" Target="/ppt/media/image2.png" Id="Rbfd1fb33e22f418c" /><Relationship Type="http://schemas.openxmlformats.org/officeDocument/2006/relationships/notesSlide" Target="/ppt/notesSlides/notesSlide34.xml" Id="R6503ee5c18424f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a002d2cf734caa" /><Relationship Type="http://schemas.openxmlformats.org/officeDocument/2006/relationships/image" Target="/ppt/media/image.jpeg" Id="Rc295c989524b4b03" /><Relationship Type="http://schemas.openxmlformats.org/officeDocument/2006/relationships/image" Target="/ppt/media/image31.png" Id="Rb0b8506c690e4954" /><Relationship Type="http://schemas.openxmlformats.org/officeDocument/2006/relationships/image" Target="/ppt/media/image5.svg" Id="R385c44ac8ccc4be8" /><Relationship Type="http://schemas.openxmlformats.org/officeDocument/2006/relationships/image" Target="/ppt/media/image32.png" Id="R8413296a221b44e4" /><Relationship Type="http://schemas.openxmlformats.org/officeDocument/2006/relationships/image" Target="/ppt/media/image33.png" Id="Radffbe2b5c6541df" /><Relationship Type="http://schemas.openxmlformats.org/officeDocument/2006/relationships/image" Target="/ppt/media/image6.svg" Id="R32b3c71026d44425" /><Relationship Type="http://schemas.openxmlformats.org/officeDocument/2006/relationships/image" Target="/ppt/media/image34.png" Id="R5d2864b98a4048bb" /><Relationship Type="http://schemas.openxmlformats.org/officeDocument/2006/relationships/image" Target="/ppt/media/image7.svg" Id="R4e4ea1e9a6394518" /><Relationship Type="http://schemas.openxmlformats.org/officeDocument/2006/relationships/image" Target="/ppt/media/image13.png" Id="Rbefab6d0e49d4eff" /><Relationship Type="http://schemas.openxmlformats.org/officeDocument/2006/relationships/image" Target="/ppt/media/image3.svg" Id="R26ffe953076a4aeb" /><Relationship Type="http://schemas.openxmlformats.org/officeDocument/2006/relationships/image" Target="/ppt/media/image35.png" Id="R2b1841b5f8ae43ff" /><Relationship Type="http://schemas.openxmlformats.org/officeDocument/2006/relationships/image" Target="/ppt/media/image8.svg" Id="Rd43308ffe2b64f2a" /><Relationship Type="http://schemas.openxmlformats.org/officeDocument/2006/relationships/image" Target="/ppt/media/image36.png" Id="Rd09b1ccf7f024c64" /><Relationship Type="http://schemas.openxmlformats.org/officeDocument/2006/relationships/image" Target="/ppt/media/image9.svg" Id="R2846a2378de14319" /><Relationship Type="http://schemas.openxmlformats.org/officeDocument/2006/relationships/image" Target="/ppt/media/image37.png" Id="Rd454649b5f014385" /><Relationship Type="http://schemas.openxmlformats.org/officeDocument/2006/relationships/image" Target="/ppt/media/image10.svg" Id="R2e7e07f5fc3a4c73" /><Relationship Type="http://schemas.openxmlformats.org/officeDocument/2006/relationships/image" Target="/ppt/media/image2.png" Id="R3f65d48c673b4d96" /><Relationship Type="http://schemas.openxmlformats.org/officeDocument/2006/relationships/image" Target="/ppt/media/image38.png" Id="R4292b5014f4a4dc0" /><Relationship Type="http://schemas.openxmlformats.org/officeDocument/2006/relationships/image" Target="/ppt/media/image39.png" Id="Rd15624b5af8e4f9c" /><Relationship Type="http://schemas.openxmlformats.org/officeDocument/2006/relationships/notesSlide" Target="/ppt/notesSlides/notesSlide35.xml" Id="R8d57b33d5c974b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B05773D-0F9E-4C28-B4C1-67DDB79C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64136211714146"/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ED3606C-BE19-46ED-BE35-BB7941D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2761529" cy="1088393"/>
          </a:xfrm>
          <a:custGeom xmlns:a="http://schemas.openxmlformats.org/drawingml/2006/main">
            <a:rect l="l" t="t" r="r" b="b"/>
            <a:pathLst>
              <a:path w="2761529" h="1088393">
                <a:moveTo>
                  <a:pt x="0" y="0"/>
                </a:moveTo>
                <a:lnTo>
                  <a:pt x="2761529" y="0"/>
                </a:lnTo>
                <a:lnTo>
                  <a:pt x="2761529" y="1088393"/>
                </a:lnTo>
                <a:lnTo>
                  <a:pt x="0" y="108839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338e0693cf4f3f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E85AB42-AB9A-458D-A980-3E6D1235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8473" y="-527229"/>
            <a:ext cx="2089159" cy="2089159"/>
          </a:xfrm>
          <a:custGeom xmlns:a="http://schemas.openxmlformats.org/drawingml/2006/main">
            <a:rect l="l" t="t" r="r" b="b"/>
            <a:pathLst>
              <a:path w="2089159" h="2089159">
                <a:moveTo>
                  <a:pt x="0" y="0"/>
                </a:moveTo>
                <a:lnTo>
                  <a:pt x="2089159" y="0"/>
                </a:lnTo>
                <a:lnTo>
                  <a:pt x="2089159" y="2089159"/>
                </a:lnTo>
                <a:lnTo>
                  <a:pt x="0" y="20891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06ebc0c9ca426d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FA6DFD9-200F-45A1-8E7A-887C0BF7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4907" y="4616612"/>
            <a:ext cx="12555853" cy="993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183"/>
              </a:lnSpc>
              <a:buNone/>
            </a:pPr>
            <a:r>
              <a:rPr sz="5845" b="1">
                <a:solidFill>
                  <a:srgbClr val="222B45"/>
                </a:solidFill>
                <a:latin typeface="League Spartan"/>
                <a:ea typeface="League Spartan"/>
                <a:cs typeface="League Spartan"/>
              </a:rPr>
              <a:t>AVANCE MEMORIA DE TÍTULO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1C77A27-16EA-48B9-AE21-D4E52A36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8325" y="2487430"/>
            <a:ext cx="9505160" cy="1971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280"/>
              </a:lnSpc>
              <a:buNone/>
            </a:pPr>
            <a:r>
              <a:rPr sz="3771" b="1">
                <a:solidFill>
                  <a:srgbClr val="303642"/>
                </a:solidFill>
                <a:latin typeface="Roboto Bold"/>
                <a:ea typeface="Roboto Bold"/>
                <a:cs typeface="Roboto Bold"/>
              </a:rPr>
              <a:t>PIPELINE DE VISIÓN COMPUTACIONAL PARA ANÁLISIS DE CARGA EN TOLVA DE CAMIONES CAEX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1AE7ACD-2ABE-46E8-97A2-BC6EFFAB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7491" y="5810257"/>
            <a:ext cx="8526827" cy="7914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107"/>
              </a:lnSpc>
              <a:spcBef>
                <a:spcPts val="0"/>
              </a:spcBef>
              <a:buNone/>
            </a:pPr>
            <a:r>
              <a:rPr sz="2219">
                <a:solidFill>
                  <a:srgbClr val="303642"/>
                </a:solidFill>
                <a:latin typeface="Poppins"/>
                <a:ea typeface="Poppins"/>
                <a:cs typeface="Poppins"/>
              </a:rPr>
              <a:t>PSINet | UdeC : Granulometría visual aparente y cono de carga para camiones extractores en mina Collahuasi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5B670B7-947D-4A2E-8F14-681048C6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62" y="7800700"/>
            <a:ext cx="8194068" cy="22228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Estudiante:</a:t>
            </a:r>
            <a:r>
              <a:rPr sz="211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Sebastián Rosas</a:t>
            </a:r>
          </a:p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Carrera:</a:t>
            </a:r>
            <a:r>
              <a:rPr sz="211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Ingeniería civil informática</a:t>
            </a:r>
          </a:p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Profesor Guía:</a:t>
            </a:r>
            <a:r>
              <a:rPr sz="211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Julio Godoy Del Campo</a:t>
            </a:r>
          </a:p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Comisión:</a:t>
            </a:r>
            <a:r>
              <a:rPr sz="211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Prof. Cecilia Hernández R., Prof. Pierluigi Cerulo </a:t>
            </a:r>
          </a:p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Supervisores PSINet:</a:t>
            </a:r>
            <a:r>
              <a:rPr sz="211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Sebastián Vergara, Manuel Zamorano</a:t>
            </a:r>
          </a:p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Fecha:</a:t>
            </a:r>
            <a:r>
              <a:rPr sz="211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14/05/2026</a:t>
            </a:r>
          </a:p>
        </p:txBody>
      </p:sp>
    </p:spTree>
    <p:extLst>
      <p:ext uri="{BB962C8B-B14F-4D97-AF65-F5344CB8AC3E}">
        <p14:creationId xmlns:p14="http://schemas.microsoft.com/office/powerpoint/2010/main" val="181642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35A4267-AB65-4C0B-837D-C25DB54A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8c2d699e6b4968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72DEF80-0511-4821-A212-939B86A4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9525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4"/>
                </a:lnTo>
                <a:lnTo>
                  <a:pt x="0" y="2037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7d016018604de3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4225BD1-70DF-46B5-A879-88BED0C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28" y="3933811"/>
            <a:ext cx="4407666" cy="2318616"/>
          </a:xfrm>
          <a:custGeom xmlns:a="http://schemas.openxmlformats.org/drawingml/2006/main">
            <a:rect l="l" t="t" r="r" b="b"/>
            <a:pathLst>
              <a:path w="4407666" h="2318616">
                <a:moveTo>
                  <a:pt x="0" y="0"/>
                </a:moveTo>
                <a:lnTo>
                  <a:pt x="4407666" y="0"/>
                </a:lnTo>
                <a:lnTo>
                  <a:pt x="4407666" y="2318616"/>
                </a:lnTo>
                <a:lnTo>
                  <a:pt x="0" y="23186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4cfc5e256843ef"/>
            <a:stretch>
              <a:fillRect l="0" t="0" r="0" b="0"/>
            </a:stretch>
          </a:blipFill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082F860-8412-40ED-B829-1169496D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9866" y="4207744"/>
            <a:ext cx="4603921" cy="1871512"/>
          </a:xfrm>
          <a:custGeom xmlns:a="http://schemas.openxmlformats.org/drawingml/2006/main">
            <a:rect l="l" t="t" r="r" b="b"/>
            <a:pathLst>
              <a:path w="4603921" h="1871512">
                <a:moveTo>
                  <a:pt x="0" y="0"/>
                </a:moveTo>
                <a:lnTo>
                  <a:pt x="4603921" y="0"/>
                </a:lnTo>
                <a:lnTo>
                  <a:pt x="4603921" y="1871512"/>
                </a:lnTo>
                <a:lnTo>
                  <a:pt x="0" y="18715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5e051ffb9b4b71"/>
            <a:stretch>
              <a:fillRect l="0" t="0" r="0" b="0"/>
            </a:stretch>
          </a:blip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7264AB8-8CAB-4C17-A958-A630097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9525"/>
          </a:xfrm>
          <a:custGeom xmlns:a="http://schemas.openxmlformats.org/drawingml/2006/main">
            <a:rect l="l" t="t" r="r" b="b"/>
            <a:pathLst>
              <a:path w="947124" h="947124">
                <a:moveTo>
                  <a:pt x="0" y="0"/>
                </a:moveTo>
                <a:lnTo>
                  <a:pt x="947124" y="0"/>
                </a:lnTo>
                <a:lnTo>
                  <a:pt x="947124" y="947124"/>
                </a:lnTo>
                <a:lnTo>
                  <a:pt x="0" y="94712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17dd82100f4778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C38ADB5-CE3B-43FB-8FE9-AEB10F3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6499" y="2571228"/>
            <a:ext cx="6246475" cy="976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31"/>
              </a:lnSpc>
              <a:buNone/>
            </a:pPr>
            <a:r>
              <a:rPr sz="280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</a:rPr>
              <a:t>Memoria de Título - Ingeniería civil informática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1529A7B-66EF-4CE6-A0F7-C3E143A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6499" y="1463825"/>
            <a:ext cx="5128241" cy="8978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12"/>
              </a:lnSpc>
              <a:buNone/>
            </a:pPr>
            <a:r>
              <a:rPr sz="515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Contexto General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8058C93-CB27-4559-8D09-9B7E3F96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0524" y="4163385"/>
            <a:ext cx="5634574" cy="22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Estudiante: Sebastián Rosas</a:t>
            </a:r>
          </a:p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Profesor Guía: Julio Godoy Del Campo</a:t>
            </a:r>
          </a:p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Supervisores PSINet: Sebastián Vergara, Manuel Zamorano</a:t>
            </a:r>
          </a:p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Periodo: Abril - Julio 2026</a:t>
            </a:r>
          </a:p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02D0BC-1FC0-4AE4-8C44-9B63E40B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2990" y="6972861"/>
            <a:ext cx="5634574" cy="186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  <a:r>
              <a:rPr sz="21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</a:rPr>
              <a:t>Desarrollo de un proyecto enfocado en el rubro de la empresa, que aporte valor real y ponga en práctica los conocimientos adquiridos en la formación universitaria.</a:t>
            </a:r>
          </a:p>
        </p:txBody>
      </p:sp>
    </p:spTree>
    <p:extLst>
      <p:ext uri="{BB962C8B-B14F-4D97-AF65-F5344CB8AC3E}">
        <p14:creationId xmlns:p14="http://schemas.microsoft.com/office/powerpoint/2010/main" val="11322547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8DC239D-D82A-49DB-865F-7A075C76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ede93572cd419c"/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7F8021D-050D-48CE-AA8D-34E316C5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8" y="8694703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4"/>
                </a:lnTo>
                <a:lnTo>
                  <a:pt x="0" y="2037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fae97cead2412f"/>
            <a:stretch>
              <a:fillRect l="0" t="0" r="0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1DF104-1407-4605-8934-5D7243F9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6499" y="2571228"/>
            <a:ext cx="6246475" cy="976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31"/>
              </a:lnSpc>
              <a:buNone/>
            </a:pPr>
            <a:r>
              <a:rPr sz="280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</a:rPr>
              <a:t>Proceso mina-planta en zonas críticas de descarga y transporte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1D89FCE-F811-4FEF-AA55-4AD73B9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6499" y="1463825"/>
            <a:ext cx="5128241" cy="8978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12"/>
              </a:lnSpc>
              <a:buNone/>
            </a:pPr>
            <a:r>
              <a:rPr sz="515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Contexto General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0B31E3-DDDA-4128-8DE1-1245C98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90708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656E028-C2D1-4027-838E-4AF4143B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2450" y="7097523"/>
            <a:ext cx="5634574" cy="1117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El objetivo del área es asegurar continuidad, productividad y seguimiento.</a:t>
            </a:r>
          </a:p>
        </p:txBody>
      </p:sp>
    </p:spTree>
    <p:extLst>
      <p:ext uri="{BB962C8B-B14F-4D97-AF65-F5344CB8AC3E}">
        <p14:creationId xmlns:p14="http://schemas.microsoft.com/office/powerpoint/2010/main" val="4322349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0EE9AE9-6262-4C5A-982B-8B04202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0dcb52c8e8474e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9E7D198-D6EC-4F5B-A271-80542D9A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5268" y="3352527"/>
            <a:ext cx="1863578" cy="1863578"/>
          </a:xfrm>
          <a:custGeom xmlns:a="http://schemas.openxmlformats.org/drawingml/2006/main">
            <a:rect l="l" t="t" r="r" b="b"/>
            <a:pathLst>
              <a:path w="1863578" h="1863578">
                <a:moveTo>
                  <a:pt x="0" y="0"/>
                </a:moveTo>
                <a:lnTo>
                  <a:pt x="1863578" y="0"/>
                </a:lnTo>
                <a:lnTo>
                  <a:pt x="1863578" y="1863578"/>
                </a:lnTo>
                <a:lnTo>
                  <a:pt x="0" y="18635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53a8b841f54bc6"/>
            <a:stretch>
              <a:fillRect l="0" t="0" r="0" b="0"/>
            </a:stretch>
          </a:blipFill>
          <a:ln xmlns:a="http://schemas.openxmlformats.org/drawingml/2006/main" w="57150">
            <a:solidFill>
              <a:srgbClr val="000000"/>
            </a:solidFill>
            <a:prstDash val="solid"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DCC2F8F-07D4-4756-94BC-FD362567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0910" y="3316225"/>
            <a:ext cx="2354798" cy="1976673"/>
          </a:xfrm>
          <a:custGeom xmlns:a="http://schemas.openxmlformats.org/drawingml/2006/main">
            <a:rect l="l" t="t" r="r" b="b"/>
            <a:pathLst>
              <a:path w="2354798" h="1976673">
                <a:moveTo>
                  <a:pt x="0" y="0"/>
                </a:moveTo>
                <a:lnTo>
                  <a:pt x="2354798" y="0"/>
                </a:lnTo>
                <a:lnTo>
                  <a:pt x="2354798" y="1976672"/>
                </a:lnTo>
                <a:lnTo>
                  <a:pt x="0" y="19766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79264beb854f7b"/>
            <a:stretch>
              <a:fillRect l="0" t="-9902" r="0" b="-18390"/>
            </a:stretch>
          </a:blipFill>
          <a:ln xmlns:a="http://schemas.openxmlformats.org/drawingml/2006/main" w="57150">
            <a:solidFill>
              <a:srgbClr val="000000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2D59AE3-5EE2-472C-9719-B535D4B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6355" y="3336469"/>
            <a:ext cx="1936183" cy="1936183"/>
          </a:xfrm>
          <a:custGeom xmlns:a="http://schemas.openxmlformats.org/drawingml/2006/main">
            <a:rect l="l" t="t" r="r" b="b"/>
            <a:pathLst>
              <a:path w="1936183" h="1936183">
                <a:moveTo>
                  <a:pt x="0" y="0"/>
                </a:moveTo>
                <a:lnTo>
                  <a:pt x="1936183" y="0"/>
                </a:lnTo>
                <a:lnTo>
                  <a:pt x="1936183" y="1936183"/>
                </a:lnTo>
                <a:lnTo>
                  <a:pt x="0" y="19361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e6289a752424333"/>
            <a:stretch>
              <a:fillRect l="0" t="0" r="0" b="0"/>
            </a:stretch>
          </a:blipFill>
          <a:ln xmlns:a="http://schemas.openxmlformats.org/drawingml/2006/main" w="57150">
            <a:solidFill>
              <a:srgbClr val="000000"/>
            </a:solidFill>
            <a:prstDash val="solid"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5BB703A-5248-4803-A6F7-BE6DD5B6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4736" y="6659289"/>
            <a:ext cx="2083265" cy="1895667"/>
          </a:xfrm>
          <a:custGeom xmlns:a="http://schemas.openxmlformats.org/drawingml/2006/main">
            <a:rect l="l" t="t" r="r" b="b"/>
            <a:pathLst>
              <a:path w="2083265" h="1895667">
                <a:moveTo>
                  <a:pt x="0" y="0"/>
                </a:moveTo>
                <a:lnTo>
                  <a:pt x="2083264" y="0"/>
                </a:lnTo>
                <a:lnTo>
                  <a:pt x="2083264" y="1895667"/>
                </a:lnTo>
                <a:lnTo>
                  <a:pt x="0" y="18956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ffb58b7d1c4554"/>
            <a:stretch>
              <a:fillRect l="-1833" t="-5955" r="0" b="-5955"/>
            </a:stretch>
          </a:blipFill>
          <a:ln xmlns:a="http://schemas.openxmlformats.org/drawingml/2006/main" w="57150">
            <a:solidFill>
              <a:srgbClr val="000000"/>
            </a:solidFill>
            <a:prstDash val="solid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7D86C49-C531-4363-BE84-4FBCCE7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5268" y="6691378"/>
            <a:ext cx="1863578" cy="1863578"/>
          </a:xfrm>
          <a:custGeom xmlns:a="http://schemas.openxmlformats.org/drawingml/2006/main">
            <a:rect l="l" t="t" r="r" b="b"/>
            <a:pathLst>
              <a:path w="1863578" h="1863578">
                <a:moveTo>
                  <a:pt x="0" y="0"/>
                </a:moveTo>
                <a:lnTo>
                  <a:pt x="1863578" y="0"/>
                </a:lnTo>
                <a:lnTo>
                  <a:pt x="1863578" y="1863578"/>
                </a:lnTo>
                <a:lnTo>
                  <a:pt x="0" y="18635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f10c7e2e184631"/>
            <a:stretch>
              <a:fillRect l="0" t="0" r="0" b="0"/>
            </a:stretch>
          </a:blipFill>
          <a:ln xmlns:a="http://schemas.openxmlformats.org/drawingml/2006/main" w="57150">
            <a:solidFill>
              <a:srgbClr val="000000"/>
            </a:solidFill>
            <a:prstDash val="solid"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7461ADC-2C19-4104-A638-F74333CA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9525"/>
          </a:xfrm>
          <a:custGeom xmlns:a="http://schemas.openxmlformats.org/drawingml/2006/main">
            <a:rect l="l" t="t" r="r" b="b"/>
            <a:pathLst>
              <a:path w="1914943" h="1914943">
                <a:moveTo>
                  <a:pt x="0" y="0"/>
                </a:moveTo>
                <a:lnTo>
                  <a:pt x="1914943" y="0"/>
                </a:lnTo>
                <a:lnTo>
                  <a:pt x="1914943" y="1914942"/>
                </a:lnTo>
                <a:lnTo>
                  <a:pt x="0" y="191494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03714dcb6f5424c"/>
            <a:stretch>
              <a:fillRect l="0" t="0" r="0" b="0"/>
            </a:stretch>
          </a:blipFill>
          <a:ln xmlns:a="http://schemas.openxmlformats.org/drawingml/2006/main" w="571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692FB7F-2968-4E0F-A731-87D4609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96" y="257175"/>
            <a:ext cx="3380482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¿Qué se propone?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BAFC7F5-D9AF-43A0-94FE-14735113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629944"/>
            <a:ext cx="5504230" cy="455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91"/>
              </a:lnSpc>
              <a:buNone/>
            </a:pPr>
            <a:r>
              <a:rPr sz="270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</a:rPr>
              <a:t>Variables piloto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D8223E7-2754-432A-A297-8ACC4824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3107" y="5401990"/>
            <a:ext cx="3907900" cy="37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1) Granulometría en correa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A36777B-211E-43E3-989E-282BEA1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439" y="5482203"/>
            <a:ext cx="3907900" cy="37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BF63"/>
                </a:solidFill>
                <a:latin typeface="Poppins Bold"/>
                <a:ea typeface="Poppins Bold"/>
                <a:cs typeface="Poppins Bold"/>
              </a:rPr>
              <a:t>2) Granulometría en la tolva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CA43A3C-F1DD-4D24-8633-2508BB2F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1770" y="5482203"/>
            <a:ext cx="3907900" cy="37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3) Identificación de equipos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45FD10-A87F-4094-841E-411EAB54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4736" y="8745456"/>
            <a:ext cx="2843580" cy="37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5) Ruta óptima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1FB508A-2391-4504-8329-FE57BD73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6008" y="8745456"/>
            <a:ext cx="3907900" cy="37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4) Tiempo aculatamiento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BCF14BE-2433-4F81-8275-9963D498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7704" y="8745456"/>
            <a:ext cx="3907900" cy="37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BF63"/>
                </a:solidFill>
                <a:latin typeface="Poppins Bold"/>
                <a:ea typeface="Poppins Bold"/>
                <a:cs typeface="Poppins Bold"/>
              </a:rPr>
              <a:t>6) Cono de carga en la tolva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9AFA987-34AA-44FB-A080-8D8EA152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45b436b09c4d51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7839153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8E8B0AB-F712-489F-938C-D99A0A3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4f0ccf9f96945c7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E006C44-7220-4544-8797-7BA7EBD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2751" y="5749395"/>
            <a:ext cx="4664607" cy="3134221"/>
          </a:xfrm>
          <a:custGeom xmlns:a="http://schemas.openxmlformats.org/drawingml/2006/main">
            <a:rect l="l" t="t" r="r" b="b"/>
            <a:pathLst>
              <a:path w="4664607" h="3134221">
                <a:moveTo>
                  <a:pt x="0" y="0"/>
                </a:moveTo>
                <a:lnTo>
                  <a:pt x="4664607" y="0"/>
                </a:lnTo>
                <a:lnTo>
                  <a:pt x="4664607" y="3134221"/>
                </a:lnTo>
                <a:lnTo>
                  <a:pt x="0" y="31342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e3d08dc4634101"/>
            <a:stretch>
              <a:fillRect l="-28990" t="0" r="-23285" b="0"/>
            </a:stretch>
          </a:blip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99037DA-69CB-49D7-A214-ACEE9899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0446" y="1420476"/>
            <a:ext cx="4922294" cy="3278908"/>
          </a:xfrm>
          <a:custGeom xmlns:a="http://schemas.openxmlformats.org/drawingml/2006/main">
            <a:rect l="l" t="t" r="r" b="b"/>
            <a:pathLst>
              <a:path w="4922294" h="3278908">
                <a:moveTo>
                  <a:pt x="0" y="0"/>
                </a:moveTo>
                <a:lnTo>
                  <a:pt x="4922294" y="0"/>
                </a:lnTo>
                <a:lnTo>
                  <a:pt x="4922294" y="3278909"/>
                </a:lnTo>
                <a:lnTo>
                  <a:pt x="0" y="32789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0083da8b0f4ed5"/>
            <a:stretch>
              <a:fillRect l="0" t="0" r="0" b="0"/>
            </a:stretch>
          </a:blip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7743A3A-B4DB-40A8-9178-A0FF712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08" y="1791425"/>
            <a:ext cx="6527757" cy="1855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431"/>
              </a:lnSpc>
              <a:buNone/>
            </a:pPr>
            <a:r>
              <a:rPr sz="5308">
                <a:solidFill>
                  <a:srgbClr val="222B45"/>
                </a:solidFill>
                <a:latin typeface="League Spartan"/>
                <a:ea typeface="League Spartan"/>
                <a:cs typeface="League Spartan"/>
              </a:rPr>
              <a:t>GRANULOMETRÍA EN TOLVA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F9F02F6-BFA2-497A-A6E4-17BC1015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08" y="914400"/>
            <a:ext cx="4842085" cy="8978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12"/>
              </a:lnSpc>
              <a:buNone/>
            </a:pPr>
            <a:r>
              <a:rPr sz="515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VARIABLE 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BD2585-95E7-4D93-95FF-E86EDCAE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08" y="3703314"/>
            <a:ext cx="5634574" cy="1117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Permite anticipar eventos de oversize y asociar la calidad de la carga a cada camión o frente de operación.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2CBF5E-A218-42A7-8C66-B13FEF03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4066" y="1755103"/>
            <a:ext cx="4076984" cy="1860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Detección de oversize</a:t>
            </a:r>
            <a:r>
              <a:rPr sz="211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Identificar rocas que superen un umbral crítico antes de que el material llegue al chancador o a la descarga.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960BF63-98C1-4B8E-AC72-7D3D0643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9296" y="6203454"/>
            <a:ext cx="4823444" cy="1860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Distribución por rangos</a:t>
            </a:r>
          </a:p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Estimar el porcentaje de material en bandas de tamaño dentro de la tolva para comparar cargas entre camiones, turnos o sectores.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F685BA-4729-458E-9F71-422E712C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08" y="5781700"/>
            <a:ext cx="6023680" cy="3346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buNone/>
            </a:pPr>
            <a:r>
              <a:rPr sz="2125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Alternativas actuales</a:t>
            </a:r>
          </a:p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Inspección visual</a:t>
            </a:r>
          </a:p>
          <a:p xmlns:a="http://schemas.openxmlformats.org/drawingml/2006/main">
            <a:pPr algn="l">
              <a:lnSpc>
                <a:spcPts val="2976"/>
              </a:lnSpc>
              <a:buNone/>
            </a:pPr>
            <a:r>
              <a:rPr sz="21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</a:rPr>
              <a:t>      → Poca trazabilidad y continuidad</a:t>
            </a:r>
          </a:p>
          <a:p xmlns:a="http://schemas.openxmlformats.org/drawingml/2006/main">
            <a:pPr algn="l">
              <a:lnSpc>
                <a:spcPts val="2976"/>
              </a:lnSpc>
              <a:buNone/>
            </a:pPr>
          </a:p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Sistemas dedicados como TruckMetrics</a:t>
            </a:r>
          </a:p>
          <a:p xmlns:a="http://schemas.openxmlformats.org/drawingml/2006/main">
            <a:pPr algn="l">
              <a:lnSpc>
                <a:spcPts val="2976"/>
              </a:lnSpc>
              <a:buNone/>
            </a:pPr>
            <a:r>
              <a:rPr sz="21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</a:rPr>
              <a:t>       → Más especializado, con infraestructura física y menos integrables con otras variables</a:t>
            </a:r>
          </a:p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291138D-503B-487F-9DA0-EFFE75C8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70242aeb314e34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4907903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09C9B71-F651-4289-85D9-B6F0E8F3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4353b255304a7a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A3F62AD-481D-4261-BD41-6904C292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6611" y="1420476"/>
            <a:ext cx="5608814" cy="2983567"/>
          </a:xfrm>
          <a:custGeom xmlns:a="http://schemas.openxmlformats.org/drawingml/2006/main">
            <a:rect l="l" t="t" r="r" b="b"/>
            <a:pathLst>
              <a:path w="5608814" h="2983567">
                <a:moveTo>
                  <a:pt x="0" y="0"/>
                </a:moveTo>
                <a:lnTo>
                  <a:pt x="5608814" y="0"/>
                </a:lnTo>
                <a:lnTo>
                  <a:pt x="5608814" y="2983568"/>
                </a:lnTo>
                <a:lnTo>
                  <a:pt x="0" y="29835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79f0abb976848f3"/>
            <a:stretch>
              <a:fillRect l="0" t="0" r="0" b="0"/>
            </a:stretch>
          </a:blip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C076C67-61E8-4E90-B07F-9E6CDF04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2278" y="5514576"/>
            <a:ext cx="5125455" cy="3075273"/>
          </a:xfrm>
          <a:custGeom xmlns:a="http://schemas.openxmlformats.org/drawingml/2006/main">
            <a:rect l="l" t="t" r="r" b="b"/>
            <a:pathLst>
              <a:path w="5125455" h="3075273">
                <a:moveTo>
                  <a:pt x="0" y="0"/>
                </a:moveTo>
                <a:lnTo>
                  <a:pt x="5125456" y="0"/>
                </a:lnTo>
                <a:lnTo>
                  <a:pt x="5125456" y="3075273"/>
                </a:lnTo>
                <a:lnTo>
                  <a:pt x="0" y="30752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5fe5b2145148f0"/>
            <a:stretch>
              <a:fillRect l="0" t="0" r="0" b="0"/>
            </a:stretch>
          </a:blipFill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74AC583-CB85-49C2-A61E-7AA32423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08" y="1791425"/>
            <a:ext cx="6527757" cy="1855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431"/>
              </a:lnSpc>
              <a:buNone/>
            </a:pPr>
            <a:r>
              <a:rPr sz="5308">
                <a:solidFill>
                  <a:srgbClr val="222B45"/>
                </a:solidFill>
                <a:latin typeface="League Spartan"/>
                <a:ea typeface="League Spartan"/>
                <a:cs typeface="League Spartan"/>
              </a:rPr>
              <a:t>INCLINACIÓN DEL CONO DE CARGA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16FC0D9-25AD-446B-B870-CD337008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08" y="914400"/>
            <a:ext cx="4842085" cy="8978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12"/>
              </a:lnSpc>
              <a:buNone/>
            </a:pPr>
            <a:r>
              <a:rPr sz="515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VARIABLE 2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28496AB-46EB-4B78-89FA-B2539A7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08" y="3703314"/>
            <a:ext cx="5634574" cy="22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buNone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Monitoreo de la geometría de la carga en la tolva del CAEX para detectar asimetrías o inclinaciones que puedan afectar la distribución del peso y la estabilidad operacional.</a:t>
            </a:r>
          </a:p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57EC167-37C2-4B2A-B7CF-380C76E4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8160" y="6093194"/>
            <a:ext cx="4076984" cy="1860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Ángulo de desviación </a:t>
            </a:r>
          </a:p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  <a:r>
              <a:rPr sz="211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Medir el ángulo o desviación del perfil de material dentro de la tolva para identificar cargas fuera de tolerancia.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320509D-B261-47A3-BC6F-F8C2073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6543" y="1581766"/>
            <a:ext cx="4823444" cy="2975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Desviación respecto a distribución óptima</a:t>
            </a:r>
          </a:p>
          <a:p xmlns:a="http://schemas.openxmlformats.org/drawingml/2006/main">
            <a:pPr algn="l">
              <a:lnSpc>
                <a:spcPts val="2956"/>
              </a:lnSpc>
              <a:buNone/>
            </a:pPr>
            <a:r>
              <a:rPr sz="211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Identificar diferencias entre la distribución real de la carga y una condición esperada de reparto de material.</a:t>
            </a:r>
          </a:p>
          <a:p xmlns:a="http://schemas.openxmlformats.org/drawingml/2006/main">
            <a:pPr algn="l">
              <a:lnSpc>
                <a:spcPts val="2956"/>
              </a:lnSpc>
              <a:buNone/>
            </a:pPr>
          </a:p>
          <a:p xmlns:a="http://schemas.openxmlformats.org/drawingml/2006/main">
            <a:pPr algn="l">
              <a:lnSpc>
                <a:spcPts val="2956"/>
              </a:lnSpc>
              <a:spcBef>
                <a:spcPts val="0"/>
              </a:spcBef>
              <a:buNone/>
            </a:p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2DE43C0-BA31-4418-9218-FAFD9E14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03" y="5878164"/>
            <a:ext cx="5794794" cy="371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buNone/>
            </a:pPr>
            <a:r>
              <a:rPr sz="2125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Alternativas actuales</a:t>
            </a:r>
          </a:p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Payload monitoring (caterpillar), Payload Meter (Komatsu)</a:t>
            </a:r>
          </a:p>
          <a:p xmlns:a="http://schemas.openxmlformats.org/drawingml/2006/main">
            <a:pPr algn="l">
              <a:lnSpc>
                <a:spcPts val="2976"/>
              </a:lnSpc>
              <a:buNone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  </a:t>
            </a:r>
            <a:r>
              <a:rPr sz="21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</a:rPr>
              <a:t>   → Mide peso total, pero </a:t>
            </a:r>
            <a:r>
              <a:rPr sz="21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</a:rPr>
              <a:t>no la forma ni simetría de la carga</a:t>
            </a:r>
          </a:p>
          <a:p xmlns:a="http://schemas.openxmlformats.org/drawingml/2006/main">
            <a:pPr algn="l">
              <a:lnSpc>
                <a:spcPts val="2976"/>
              </a:lnSpc>
              <a:buNone/>
            </a:pPr>
          </a:p>
          <a:p xmlns:a="http://schemas.openxmlformats.org/drawingml/2006/main">
            <a:pPr marL="458997" indent="-229499" algn="l">
              <a:lnSpc>
                <a:spcPts val="2976"/>
              </a:lnSpc>
              <a:buChar char="•"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Eval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uación 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visual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de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ope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ra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do</a:t>
            </a: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</a:t>
            </a:r>
          </a:p>
          <a:p xmlns:a="http://schemas.openxmlformats.org/drawingml/2006/main">
            <a:pPr algn="l">
              <a:lnSpc>
                <a:spcPts val="2976"/>
              </a:lnSpc>
              <a:buNone/>
            </a:pPr>
            <a:r>
              <a:rPr sz="21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</a:rPr>
              <a:t>     </a:t>
            </a:r>
            <a:r>
              <a:rPr sz="21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</a:rPr>
              <a:t>→ Subjetiva y poco trazable</a:t>
            </a:r>
          </a:p>
          <a:p xmlns:a="http://schemas.openxmlformats.org/drawingml/2006/main">
            <a:pPr algn="ctr">
              <a:lnSpc>
                <a:spcPts val="2976"/>
              </a:lnSpc>
              <a:buNone/>
            </a:pPr>
          </a:p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8B9E1F2-507D-405C-A0BB-08ECAF6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f5263124c8442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0401499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CA61E4F-68A8-4B52-BE7D-008221B0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cd05c1ccfc472a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FE74BBD-9F66-4FAA-8AEC-473965DC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525f1b1d894a8f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F5366DC-E782-47A7-ACCE-0C7CF514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4001244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Métodos alternativos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3032B54-19ED-4645-8831-0B760FBC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187" y="1619936"/>
            <a:ext cx="14385317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spcBef>
                <a:spcPts val="0"/>
              </a:spcBef>
              <a:buNone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La revisión del problema muestra que exist</a:t>
            </a: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en varias formas de evaluar la carga en camiones CAEX. La diferencia principal está en si se mide peso, geometría visible o distribución física completa.</a:t>
            </a:r>
          </a:p>
        </p:txBody>
      </p:sp>
    </p:spTree>
    <p:extLst>
      <p:ext uri="{BB962C8B-B14F-4D97-AF65-F5344CB8AC3E}">
        <p14:creationId xmlns:p14="http://schemas.microsoft.com/office/powerpoint/2010/main" val="15431449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C13646E-3908-4D36-BC32-EF6CCDCF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a9281948344343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1745E92-1583-4DBA-8936-B6661D63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5807" y="1884385"/>
            <a:ext cx="6756386" cy="9672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940"/>
              </a:lnSpc>
              <a:buNone/>
            </a:pPr>
            <a:r>
              <a:rPr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</a:rPr>
              <a:t>VENTAJAS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3958B56-0BF3-4E21-809D-E656D177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1087" y="2794493"/>
            <a:ext cx="8145827" cy="1182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107"/>
              </a:lnSpc>
              <a:spcBef>
                <a:spcPts val="0"/>
              </a:spcBef>
              <a:buNone/>
            </a:pPr>
            <a:r>
              <a:rPr sz="2219">
                <a:solidFill>
                  <a:srgbClr val="303642"/>
                </a:solidFill>
                <a:latin typeface="Poppins"/>
                <a:ea typeface="Poppins"/>
                <a:cs typeface="Poppins"/>
              </a:rPr>
              <a:t>Permite medir variables críticas de forma continua, aprovechando infraestructura existente, convirtiendo eventos en información útil para tomar decisiones.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208991F-0BD7-4E8D-B126-6D29730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1676" y="5122269"/>
            <a:ext cx="4264131" cy="659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498"/>
              </a:lnSpc>
              <a:buNone/>
            </a:pPr>
            <a:r>
              <a:rPr sz="3927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MULTIVARIABLE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11555D5-7D09-4EF1-85F3-208E0950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174" y="5112744"/>
            <a:ext cx="3812056" cy="671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502"/>
              </a:lnSpc>
              <a:buNone/>
            </a:pPr>
            <a:r>
              <a:rPr sz="3929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TRAZABLE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1A9AF9-CA5C-4F7D-938E-EFB9704B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0597" y="5095322"/>
            <a:ext cx="4154675" cy="671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502"/>
              </a:lnSpc>
              <a:buNone/>
            </a:pPr>
            <a:r>
              <a:rPr sz="392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ESCALABLE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84CFB4B-4201-4DC4-B3B2-AF94168E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975575"/>
            <a:ext cx="4641942" cy="1756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84"/>
              </a:lnSpc>
              <a:spcBef>
                <a:spcPts val="0"/>
              </a:spcBef>
              <a:buNone/>
            </a:pPr>
            <a:r>
              <a:rPr sz="1989">
                <a:solidFill>
                  <a:srgbClr val="303642"/>
                </a:solidFill>
                <a:latin typeface="Poppins"/>
                <a:ea typeface="Poppins"/>
                <a:cs typeface="Poppins"/>
              </a:rPr>
              <a:t>Con una misma infraestructura es posible medir distintas variables del proceso, como granulometría, trayectorias, tiempos, perfil de carga e identificación de equipos.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23F127-A061-4973-8893-51752F8E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3916" y="6890458"/>
            <a:ext cx="4140168" cy="21211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85"/>
              </a:lnSpc>
              <a:spcBef>
                <a:spcPts val="0"/>
              </a:spcBef>
              <a:buNone/>
            </a:pPr>
            <a:r>
              <a:rPr sz="1989">
                <a:solidFill>
                  <a:srgbClr val="303642"/>
                </a:solidFill>
                <a:latin typeface="Poppins"/>
                <a:ea typeface="Poppins"/>
                <a:cs typeface="Poppins"/>
              </a:rPr>
              <a:t>Cada evento queda respaldado con evidencia visual, lo que facilita la validación, auditoría y análisis de desviaciones de forma más objetiva que un registro manual.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3AACE3-F639-47F2-AE6D-1DF2124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0597" y="6890458"/>
            <a:ext cx="4989342" cy="1768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85"/>
              </a:lnSpc>
              <a:spcBef>
                <a:spcPts val="0"/>
              </a:spcBef>
              <a:buNone/>
            </a:pPr>
            <a:r>
              <a:rPr sz="1989">
                <a:solidFill>
                  <a:srgbClr val="303642"/>
                </a:solidFill>
                <a:latin typeface="Poppins"/>
                <a:ea typeface="Poppins"/>
                <a:cs typeface="Poppins"/>
              </a:rPr>
              <a:t>Puede partir como piloto en zonas críticas y luego ampliarse por etapas, reutilizando cámaras e integrándose con otros sistemas ya presentes en la operación.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97480A-2A36-4D77-9D3D-6062E6B7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3468" y="1363696"/>
            <a:ext cx="69387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¿Por qué usar visión computacional?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0E419A9-BA62-4FE6-B0E6-9759C58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f563d37c24abf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3155930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6976344-E477-4B2A-9484-94095877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2d12239d284770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F895C1-47D4-4553-B91C-4B69F0B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5130" y="3704519"/>
            <a:ext cx="5033277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2"/>
              </a:lnSpc>
              <a:buNone/>
            </a:pPr>
            <a:r>
              <a:rPr sz="2401" b="1">
                <a:solidFill>
                  <a:srgbClr val="222B45"/>
                </a:solidFill>
                <a:latin typeface="Roboto Bold"/>
                <a:ea typeface="Roboto Bold"/>
                <a:cs typeface="Roboto Bold"/>
              </a:rPr>
              <a:t>Modelos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DF66EE9-9F6F-4C19-95C9-FAA52FCA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9525"/>
          </a:xfrm>
          <a:custGeom xmlns:a="http://schemas.openxmlformats.org/drawingml/2006/main">
            <a:rect l="l" t="t" r="r" b="b"/>
            <a:pathLst>
              <a:path w="1144947" h="1348439">
                <a:moveTo>
                  <a:pt x="0" y="0"/>
                </a:moveTo>
                <a:lnTo>
                  <a:pt x="1144948" y="0"/>
                </a:lnTo>
                <a:lnTo>
                  <a:pt x="1144948" y="1348439"/>
                </a:lnTo>
                <a:lnTo>
                  <a:pt x="0" y="13484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eaaf05c979439a">
              <a:extLst>
                <a:ext uri="{96DAC541-7B7A-43D3-8B79-37D633B846F1}">
                  <asvg:svgBlip xmlns:asvg="http://schemas.microsoft.com/office/drawing/2016/SVG/main" r:embed="R0c64aaf1acc0487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CBF3842-9DD4-49B0-A3F8-F14B98B2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5026" y="7683646"/>
            <a:ext cx="1669945" cy="1669945"/>
          </a:xfrm>
          <a:custGeom xmlns:a="http://schemas.openxmlformats.org/drawingml/2006/main">
            <a:rect l="l" t="t" r="r" b="b"/>
            <a:pathLst>
              <a:path w="1669945" h="1669945">
                <a:moveTo>
                  <a:pt x="0" y="0"/>
                </a:moveTo>
                <a:lnTo>
                  <a:pt x="1669945" y="0"/>
                </a:lnTo>
                <a:lnTo>
                  <a:pt x="1669945" y="1669945"/>
                </a:lnTo>
                <a:lnTo>
                  <a:pt x="0" y="16699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a8894fed75f4f04">
              <a:extLst>
                <a:ext uri="{96DAC541-7B7A-43D3-8B79-37D633B846F1}">
                  <asvg:svgBlip xmlns:asvg="http://schemas.microsoft.com/office/drawing/2016/SVG/main" r:embed="R9b7adc2f750442a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88A8637-C9DA-4604-8F76-2550646F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1" y="2308593"/>
            <a:ext cx="14353916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Desarrollar y evaluar un pipeline de visión computacional para el análisis de carga en tolva de camiones CAEX, considerando granulometría visual y geometría del cono de carga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A51FF0A-2C93-4D6A-9D54-C3F3A0E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846" y="7738411"/>
            <a:ext cx="1280397" cy="1615180"/>
          </a:xfrm>
          <a:custGeom xmlns:a="http://schemas.openxmlformats.org/drawingml/2006/main">
            <a:rect l="l" t="t" r="r" b="b"/>
            <a:pathLst>
              <a:path w="1280397" h="1615180">
                <a:moveTo>
                  <a:pt x="0" y="0"/>
                </a:moveTo>
                <a:lnTo>
                  <a:pt x="1280397" y="0"/>
                </a:lnTo>
                <a:lnTo>
                  <a:pt x="1280397" y="1615180"/>
                </a:lnTo>
                <a:lnTo>
                  <a:pt x="0" y="16151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058411b13904961">
              <a:extLst>
                <a:ext uri="{96DAC541-7B7A-43D3-8B79-37D633B846F1}">
                  <asvg:svgBlip xmlns:asvg="http://schemas.microsoft.com/office/drawing/2016/SVG/main" r:embed="Rc6432ba557bf40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B2D84AC-2360-413A-9576-495AB13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933" y="7485417"/>
            <a:ext cx="2066403" cy="2066403"/>
          </a:xfrm>
          <a:custGeom xmlns:a="http://schemas.openxmlformats.org/drawingml/2006/main">
            <a:rect l="l" t="t" r="r" b="b"/>
            <a:pathLst>
              <a:path w="2066403" h="2066403">
                <a:moveTo>
                  <a:pt x="0" y="0"/>
                </a:moveTo>
                <a:lnTo>
                  <a:pt x="2066403" y="0"/>
                </a:lnTo>
                <a:lnTo>
                  <a:pt x="2066403" y="2066403"/>
                </a:lnTo>
                <a:lnTo>
                  <a:pt x="0" y="206640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5f208d7eaa4c43"/>
            <a:stretch>
              <a:fillRect l="0" t="0" r="0" b="0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90C80CF-FA4A-4219-91AE-A06A0280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811" y="485775"/>
            <a:ext cx="786824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23"/>
              </a:lnSpc>
              <a:buNone/>
            </a:pPr>
            <a:r>
              <a:rPr sz="41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Objetivos generales y específicos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87566059-0240-4C67-858E-6C7A0E15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811" y="3697375"/>
            <a:ext cx="3410849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2"/>
              </a:lnSpc>
              <a:buNone/>
            </a:pPr>
            <a:r>
              <a:rPr sz="2401" b="1">
                <a:solidFill>
                  <a:srgbClr val="222B45"/>
                </a:solidFill>
                <a:latin typeface="Roboto Bold"/>
                <a:ea typeface="Roboto Bold"/>
                <a:cs typeface="Roboto Bold"/>
              </a:rPr>
              <a:t>Dataset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C87D961-6657-4225-B7B3-21A4E11F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811" y="4315081"/>
            <a:ext cx="3744859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buNone/>
            </a:pP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C</a:t>
            </a: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onstruir datasets etiquetados: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Dataset para granulometría en tolva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Dataset para cono de carga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09A7A31-C96A-43D0-A442-7A8BC90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5130" y="4315081"/>
            <a:ext cx="3744859" cy="1609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Entrenar modelos base de segmentación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Implementar modelos para granulometría (detección de bordes) y análisis visual.</a:t>
            </a:r>
          </a:p>
          <a:p xmlns:a="http://schemas.openxmlformats.org/drawingml/2006/main">
            <a:pPr algn="l">
              <a:lnSpc>
                <a:spcPts val="2161"/>
              </a:lnSpc>
              <a:buNone/>
            </a:pP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00A7034-6641-4270-93EA-14C87405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8449" y="3711662"/>
            <a:ext cx="3410849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2"/>
              </a:lnSpc>
              <a:buNone/>
            </a:pPr>
            <a:r>
              <a:rPr sz="2401" b="1">
                <a:solidFill>
                  <a:srgbClr val="222B45"/>
                </a:solidFill>
                <a:latin typeface="Roboto Bold"/>
                <a:ea typeface="Roboto Bold"/>
                <a:cs typeface="Roboto Bold"/>
              </a:rPr>
              <a:t>Analíticos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39A60CA-A388-4E2C-A687-74B6D67B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8449" y="4329368"/>
            <a:ext cx="3744859" cy="1609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Desarrolla</a:t>
            </a: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r analíticos de posprocesamiento para indicadores granulométricos y geométricos</a:t>
            </a:r>
          </a:p>
          <a:p xmlns:a="http://schemas.openxmlformats.org/drawingml/2006/main">
            <a:pPr algn="l">
              <a:lnSpc>
                <a:spcPts val="2161"/>
              </a:lnSpc>
              <a:buNone/>
            </a:pPr>
          </a:p>
          <a:p xmlns:a="http://schemas.openxmlformats.org/drawingml/2006/main">
            <a:pPr algn="l">
              <a:lnSpc>
                <a:spcPts val="2161"/>
              </a:lnSpc>
              <a:buNone/>
            </a:pP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D9B0259-6618-4883-87A6-75EF34F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1768" y="3697375"/>
            <a:ext cx="3410849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2"/>
              </a:lnSpc>
              <a:buNone/>
            </a:pPr>
            <a:r>
              <a:rPr sz="2401" b="1">
                <a:solidFill>
                  <a:srgbClr val="222B45"/>
                </a:solidFill>
                <a:latin typeface="Roboto Bold"/>
                <a:ea typeface="Roboto Bold"/>
                <a:cs typeface="Roboto Bold"/>
              </a:rPr>
              <a:t>Evaluación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255A3C2-809B-4737-8582-3333A11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1768" y="4315081"/>
            <a:ext cx="3744859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Eva</a:t>
            </a:r>
            <a:r>
              <a:rPr sz="1801">
                <a:solidFill>
                  <a:srgbClr val="6E7686"/>
                </a:solidFill>
                <a:latin typeface="Roboto"/>
                <a:ea typeface="Roboto"/>
                <a:cs typeface="Roboto"/>
              </a:rPr>
              <a:t>luar resultados y proyectar una integración piloto offline</a:t>
            </a:r>
          </a:p>
          <a:p xmlns:a="http://schemas.openxmlformats.org/drawingml/2006/main">
            <a:pPr algn="l">
              <a:lnSpc>
                <a:spcPts val="2161"/>
              </a:lnSpc>
              <a:buNone/>
            </a:pP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5A808F2-CBA4-4C80-B3E5-B2171F31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01426cb7774a38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3100415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4CD3848-B81E-4BCA-85FC-0A18A29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d218c2245140d8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E9F629F-85E9-4F53-B593-2DCD42BE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745578"/>
            <a:ext cx="4677844" cy="689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69"/>
              </a:lnSpc>
              <a:buNone/>
            </a:pPr>
            <a:r>
              <a:rPr sz="3977" b="1">
                <a:solidFill>
                  <a:srgbClr val="004AAD"/>
                </a:solidFill>
                <a:latin typeface="Roboto Bold"/>
                <a:ea typeface="Roboto Bold"/>
                <a:cs typeface="Roboto Bold"/>
              </a:rPr>
              <a:t>Pipeline offline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F4AAA05-5476-4D9B-81ED-28273C2F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52500"/>
            <a:ext cx="5634574" cy="654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392"/>
              </a:lnSpc>
              <a:buNone/>
            </a:pPr>
            <a:r>
              <a:rPr sz="3851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SOLUCIÓN PROPUESTA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29F9410-89FF-472E-8ACB-4D6250D8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71179"/>
            <a:ext cx="5634574" cy="2603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6"/>
              </a:lnSpc>
              <a:spcBef>
                <a:spcPts val="0"/>
              </a:spcBef>
              <a:buNone/>
            </a:pPr>
            <a:r>
              <a:rPr sz="2125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La solución se plantea como un pipeline offline, donde la entrada será video de cámaras de seguridad de la mina, se procesará por capas en distintas etapas y como salida generará indicadores de granulometría y de inclinación del cono de carga en cada caso.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E4C1CD4-793D-4A5C-B73C-03192B55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6853" y="1182672"/>
            <a:ext cx="986297" cy="807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621"/>
              </a:lnSpc>
              <a:buNone/>
            </a:pPr>
            <a:r>
              <a:rPr sz="4729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1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3C2305B-1FF5-4064-92A4-8F2893CA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7290" y="2699990"/>
            <a:ext cx="1025424" cy="8262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884"/>
              </a:lnSpc>
              <a:buNone/>
            </a:pPr>
            <a:r>
              <a:rPr sz="4917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2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24450E3-D93D-40CA-BBC2-9638C866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7533" y="4329893"/>
            <a:ext cx="1048792" cy="8526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41"/>
              </a:lnSpc>
              <a:buNone/>
            </a:pPr>
            <a:r>
              <a:rPr sz="5029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3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375D73B-A334-40C5-BCDD-107F530B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347" y="1230297"/>
            <a:ext cx="4856091" cy="9726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spcBef>
                <a:spcPts val="0"/>
              </a:spcBef>
              <a:buNone/>
            </a:pP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Ent</a:t>
            </a: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rada</a:t>
            </a: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Videos de camiones CAEX con carga visible en tolva</a:t>
            </a:r>
          </a:p>
          <a:p xmlns:a="http://schemas.openxmlformats.org/drawingml/2006/main">
            <a:pPr algn="l">
              <a:lnSpc>
                <a:spcPts val="2565"/>
              </a:lnSpc>
              <a:spcBef>
                <a:spcPts val="0"/>
              </a:spcBef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23282D4-3E3B-4024-AE39-9428D4EE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347" y="7735091"/>
            <a:ext cx="4856091" cy="9726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Salida</a:t>
            </a: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</a:t>
            </a: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Indicadores, visualizaciones, métricas y evidencia para revisión</a:t>
            </a:r>
          </a:p>
          <a:p xmlns:a="http://schemas.openxmlformats.org/drawingml/2006/main">
            <a:pPr algn="l">
              <a:lnSpc>
                <a:spcPts val="2565"/>
              </a:lnSpc>
              <a:spcBef>
                <a:spcPts val="0"/>
              </a:spcBef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4C024E3-D067-429C-A428-DA87F14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7764" y="6038077"/>
            <a:ext cx="986297" cy="807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621"/>
              </a:lnSpc>
              <a:buNone/>
            </a:pPr>
            <a:r>
              <a:rPr sz="4729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4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F1B6092-BAEC-4C88-ACAE-3520591C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7764" y="7687466"/>
            <a:ext cx="986297" cy="807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621"/>
              </a:lnSpc>
              <a:buNone/>
            </a:pPr>
            <a:r>
              <a:rPr sz="4729">
                <a:solidFill>
                  <a:srgbClr val="000000"/>
                </a:solidFill>
                <a:latin typeface="League Spartan"/>
                <a:ea typeface="League Spartan"/>
                <a:cs typeface="League Spartan"/>
              </a:rPr>
              <a:t>5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6C5888E-C9B1-4BDA-8B82-A5DDBDB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347" y="2564743"/>
            <a:ext cx="4856091" cy="12964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P</a:t>
            </a: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reparación</a:t>
            </a: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Selección de material útil, extracción de frames, organización por variable y carga a CVAT</a:t>
            </a:r>
          </a:p>
          <a:p xmlns:a="http://schemas.openxmlformats.org/drawingml/2006/main">
            <a:pPr algn="l">
              <a:lnSpc>
                <a:spcPts val="2565"/>
              </a:lnSpc>
              <a:spcBef>
                <a:spcPts val="0"/>
              </a:spcBef>
              <a:buNone/>
            </a:pP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166FC775-AF42-431F-AF24-ABA63A3E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347" y="4300390"/>
            <a:ext cx="4856091" cy="9726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P</a:t>
            </a: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ercepción</a:t>
            </a: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Modelos y técnicas para obtener máscara/zona útil de carga</a:t>
            </a:r>
          </a:p>
          <a:p xmlns:a="http://schemas.openxmlformats.org/drawingml/2006/main">
            <a:pPr algn="l">
              <a:lnSpc>
                <a:spcPts val="2565"/>
              </a:lnSpc>
              <a:spcBef>
                <a:spcPts val="0"/>
              </a:spcBef>
              <a:buNone/>
            </a:pP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6E091F6-F7C3-4829-8891-C4389998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347" y="6015976"/>
            <a:ext cx="4856091" cy="9726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Analític</a:t>
            </a:r>
            <a:r>
              <a:rPr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os</a:t>
            </a: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Granulometría visual y geometría del cono</a:t>
            </a:r>
          </a:p>
          <a:p xmlns:a="http://schemas.openxmlformats.org/drawingml/2006/main">
            <a:pPr algn="l">
              <a:lnSpc>
                <a:spcPts val="2565"/>
              </a:lnSpc>
              <a:spcBef>
                <a:spcPts val="0"/>
              </a:spcBef>
              <a:buNone/>
            </a:pP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57199DCE-5B74-4651-80C0-FAF57903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01a139cca842aa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0356022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9252379-B14E-4932-8C07-B438CF37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baeb3435734f85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35EA544-2B55-4377-9420-FAAD17CE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1659136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Métricas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5CA5FE1-22C9-459B-BB93-AC2A4CF2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657" y="3019779"/>
            <a:ext cx="998338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49"/>
              </a:lnSpc>
              <a:spcBef>
                <a:spcPts val="0"/>
              </a:spcBef>
              <a:buNone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• Segm</a:t>
            </a: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entación de carga/tolva: 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IoU, Dice, evaluar la calidad de las máscaras.</a:t>
            </a:r>
          </a:p>
          <a:p xmlns:a="http://schemas.openxmlformats.org/drawingml/2006/main">
            <a:pPr algn="l">
              <a:lnSpc>
                <a:spcPts val="2349"/>
              </a:lnSpc>
              <a:spcBef>
                <a:spcPts val="0"/>
              </a:spcBef>
              <a:buNone/>
            </a:pPr>
          </a:p>
          <a:p xmlns:a="http://schemas.openxmlformats.org/drawingml/2006/main">
            <a:pPr algn="l">
              <a:lnSpc>
                <a:spcPts val="2349"/>
              </a:lnSpc>
              <a:spcBef>
                <a:spcPts val="0"/>
              </a:spcBef>
              <a:buNone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• Granulometría visual: 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% fino/medio/grueso, % oversize, error porcentual por clase, comparar estimación con etiquetas.</a:t>
            </a:r>
          </a:p>
          <a:p xmlns:a="http://schemas.openxmlformats.org/drawingml/2006/main">
            <a:pPr algn="l">
              <a:lnSpc>
                <a:spcPts val="2349"/>
              </a:lnSpc>
              <a:spcBef>
                <a:spcPts val="0"/>
              </a:spcBef>
              <a:buNone/>
            </a:pPr>
          </a:p>
          <a:p xmlns:a="http://schemas.openxmlformats.org/drawingml/2006/main">
            <a:pPr algn="l">
              <a:lnSpc>
                <a:spcPts val="2349"/>
              </a:lnSpc>
              <a:spcBef>
                <a:spcPts val="0"/>
              </a:spcBef>
              <a:buNone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• Cono de carga: 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Centroide, simetría izquierda/derecha, desviación lateral, ángulo de inclinación.</a:t>
            </a:r>
          </a:p>
          <a:p xmlns:a="http://schemas.openxmlformats.org/drawingml/2006/main">
            <a:pPr algn="ctr">
              <a:lnSpc>
                <a:spcPts val="2349"/>
              </a:lnSpc>
              <a:spcBef>
                <a:spcPts val="0"/>
              </a:spcBef>
              <a:buNone/>
            </a:p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533F1AB-53D0-4CCF-A5EA-A77DE72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187" y="1619936"/>
            <a:ext cx="14385317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spcBef>
                <a:spcPts val="0"/>
              </a:spcBef>
              <a:buNone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La literatura reciente respalda el us</a:t>
            </a: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o de visión computacional y deep learning para análisis de fragmentación/PSD en minería, pero muestra tres desafíos principales: etiquetado costoso, transferencia limitada entre escenarios y necesidad de validación con datos propios.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497554A-F715-4C5E-9B9C-EBBB26B8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889422ad47417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474344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BA2AF25-CA65-498F-992B-CE93829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f0bc5cd60d45eb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9D1AEC5-93A3-426C-A480-A286ACCC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703927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Riesgos, restricciones y mitigaciones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C0AA192-9AD3-4E5D-971E-5631AA4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deafe7b8704236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40741552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246A94F-FD18-4163-92FA-C8E0C7D9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9349abfd6e45c7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4503167-F66B-4AC9-B481-AF7BBE50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8614" y="4262804"/>
            <a:ext cx="585222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825"/>
              </a:lnSpc>
              <a:buNone/>
            </a:pPr>
            <a:r>
              <a:rPr sz="4854" b="1" i="1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</a:rPr>
              <a:t>Pipeline y Resultados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7220954-D6F3-40B0-A47F-63A51AD6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2f2ef989064bf9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40BE117-6D4D-4215-9F76-D7193D26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6902" y="5095875"/>
            <a:ext cx="6704901" cy="9726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65"/>
              </a:lnSpc>
              <a:spcBef>
                <a:spcPts val="0"/>
              </a:spcBef>
              <a:buNone/>
            </a:pP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Fluj</a:t>
            </a:r>
            <a:r>
              <a:rPr sz="1832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 integrado para transformar videos de CAEX en un veredicto visual.</a:t>
            </a:r>
          </a:p>
          <a:p xmlns:a="http://schemas.openxmlformats.org/drawingml/2006/main">
            <a:pPr algn="ctr">
              <a:lnSpc>
                <a:spcPts val="2565"/>
              </a:lnSpc>
              <a:spcBef>
                <a:spcPts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79460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EA4884E-4C8D-4016-8ED3-AC61CAB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5dcfa2cbb64f40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151CA6-9D79-4011-AE64-FB8C3782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610" y="3644880"/>
            <a:ext cx="16624779" cy="5153682"/>
          </a:xfrm>
          <a:custGeom xmlns:a="http://schemas.openxmlformats.org/drawingml/2006/main">
            <a:rect l="l" t="t" r="r" b="b"/>
            <a:pathLst>
              <a:path w="16624779" h="5153682">
                <a:moveTo>
                  <a:pt x="0" y="0"/>
                </a:moveTo>
                <a:lnTo>
                  <a:pt x="16624780" y="0"/>
                </a:lnTo>
                <a:lnTo>
                  <a:pt x="16624780" y="5153681"/>
                </a:lnTo>
                <a:lnTo>
                  <a:pt x="0" y="515368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088cefbbf84af8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9E6FCFF-E1BF-4F58-AD1F-A627ACF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575979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+ Granulometría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960EBE1-49EE-4AAD-B735-1482E64B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187" y="1619936"/>
            <a:ext cx="14385317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buNone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Base de datos de videos de cámaras de seguridad de la mina Collahuasi, con registros desde el 1 de Junio al 12 de diciembre de 2024.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DBC6774-6BE3-4503-9D72-D20F31E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6a912920b3c40b6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5623052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5E0ECD-68C0-4083-9A2C-1CEC48CF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91720662cd41be"/>
            <a:stretch>
              <a:fillRect l="0" t="0" r="0" b="0"/>
            </a:stretch>
          </a:blipFill>
        </p:spPr>
      </p:sp>
      <p:pic>
        <p:nvPicPr>
          <p:cNvPr id="1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05aa559e249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32689" y="3560438"/>
            <a:ext cx="5228529" cy="2941047"/>
          </a:xfrm>
          <a:prstGeom xmlns:a="http://schemas.openxmlformats.org/drawingml/2006/main" prst="rect">
            <a:avLst/>
          </a:prstGeom>
        </p:spPr>
      </p:pic>
      <p:pic>
        <p:nvPicPr>
          <p:cNvPr id="1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869287ec44e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729334" y="3560438"/>
            <a:ext cx="5228529" cy="2941047"/>
          </a:xfrm>
          <a:prstGeom xmlns:a="http://schemas.openxmlformats.org/drawingml/2006/main" prst="rect">
            <a:avLst/>
          </a:prstGeom>
        </p:spPr>
      </p:pic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3aa4c334e47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32689" y="6876065"/>
            <a:ext cx="5228529" cy="2941047"/>
          </a:xfrm>
          <a:prstGeom xmlns:a="http://schemas.openxmlformats.org/drawingml/2006/main" prst="rect">
            <a:avLst/>
          </a:prstGeom>
        </p:spPr>
      </p:pic>
      <p:pic>
        <p:nvPicPr>
          <p:cNvPr id="2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d5c7fd7354185"/>
          <a:srcRect xmlns:a="http://schemas.openxmlformats.org/drawingml/2006/main" l="0" t="759" r="0" b="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729334" y="6876065"/>
            <a:ext cx="5309170" cy="2941047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4EBAC1D-5C24-46DF-B1E6-D7D4A1C5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575979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+ Granulometría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14AE9A-8C97-4871-B826-C6DCEAF3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187" y="1619936"/>
            <a:ext cx="14385317" cy="1609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buNone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Base de datos de videos de cámaras de seguridad de la mina Collahuasi, con registros desde el 1 de Junio al 12 de diciembre de 2024.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Camera_8_20240730_110001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6126 videos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10 minutos de duración por video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1920x1080</a:t>
            </a:r>
          </a:p>
          <a:p xmlns:a="http://schemas.openxmlformats.org/drawingml/2006/main">
            <a:pPr marL="388924" indent="-194462" algn="l">
              <a:lnSpc>
                <a:spcPts val="2161"/>
              </a:lnSpc>
              <a:buChar char="•"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15 fps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13A2052-208B-4E6B-8402-8CDF6F7C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d07aeecbd54506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9346299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6AA74A6-0BED-43BF-B6A6-6D4FA627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186b0c4c58417d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B0A4A53-11BD-4762-817A-C4F2B7CD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2601" y="3143463"/>
            <a:ext cx="10052746" cy="6308098"/>
          </a:xfrm>
          <a:custGeom xmlns:a="http://schemas.openxmlformats.org/drawingml/2006/main">
            <a:rect l="l" t="t" r="r" b="b"/>
            <a:pathLst>
              <a:path w="10052746" h="6308098">
                <a:moveTo>
                  <a:pt x="0" y="0"/>
                </a:moveTo>
                <a:lnTo>
                  <a:pt x="10052746" y="0"/>
                </a:lnTo>
                <a:lnTo>
                  <a:pt x="10052746" y="6308098"/>
                </a:lnTo>
                <a:lnTo>
                  <a:pt x="0" y="63080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53b3cd76fb491d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79E05A1-886F-4F9F-A62C-106BA0E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575979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+ Granulometría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27FF7C4-082C-4CCB-9333-630980CB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45" y="1583085"/>
            <a:ext cx="29447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Filtrado de data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0A07308-D085-4704-99A2-2A22C947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581" y="2281594"/>
            <a:ext cx="865167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1) Selección de videos y extracción de frames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ED08FCA-4005-4380-AE19-EC4EF3A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9ba68cb5264be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256592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4270226-5EA1-4789-BCB0-7241A1B8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c97506d24f44443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70E710E-B50F-4D59-A805-CEF5FB9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2366" y="2977575"/>
            <a:ext cx="7723701" cy="7154078"/>
          </a:xfrm>
          <a:custGeom xmlns:a="http://schemas.openxmlformats.org/drawingml/2006/main">
            <a:rect l="l" t="t" r="r" b="b"/>
            <a:pathLst>
              <a:path w="7723701" h="7154078">
                <a:moveTo>
                  <a:pt x="0" y="0"/>
                </a:moveTo>
                <a:lnTo>
                  <a:pt x="7723701" y="0"/>
                </a:lnTo>
                <a:lnTo>
                  <a:pt x="7723701" y="7154078"/>
                </a:lnTo>
                <a:lnTo>
                  <a:pt x="0" y="71540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bec1b510a564904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1C7F7CC-77F7-43E8-950D-8AB3DBE5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575979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+ Granulometría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EED14F6-555F-47FC-820C-DE495F8D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45" y="1265132"/>
            <a:ext cx="29447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Filtrado de data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1711908-D7AD-4DB7-BDB7-9DAD55A3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581" y="2046182"/>
            <a:ext cx="11317486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2) Etiquetado y organización de frames en plataforma CVAT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EE4217E-8DF8-4D7C-9827-E0E2838A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bb0e9fc916462a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97249648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1A1C048-40F1-4E59-B0D8-603E3A1D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9525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7e27aee8a44f6a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2DFE21E-F9B4-404E-8EC7-FFA79E4B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7355" y="3512627"/>
            <a:ext cx="9820909" cy="5659299"/>
          </a:xfrm>
          <a:custGeom xmlns:a="http://schemas.openxmlformats.org/drawingml/2006/main">
            <a:rect l="l" t="t" r="r" b="b"/>
            <a:pathLst>
              <a:path w="9820909" h="5659299">
                <a:moveTo>
                  <a:pt x="0" y="0"/>
                </a:moveTo>
                <a:lnTo>
                  <a:pt x="9820909" y="0"/>
                </a:lnTo>
                <a:lnTo>
                  <a:pt x="9820909" y="5659299"/>
                </a:lnTo>
                <a:lnTo>
                  <a:pt x="0" y="565929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155c2882a54a6d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38FFC-45B6-4E7C-AF79-80A36D5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575979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+ Granulometría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1799060-CC66-460E-BDBB-F376D017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45" y="1583085"/>
            <a:ext cx="444966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Segmentación de carga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E09FA07-C59B-4A86-A2A8-FE5B4A2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581" y="2281594"/>
            <a:ext cx="11317486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3) Etiquetado y organización de frames en plataforma CVAT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4166B6D-D8D3-4097-8D72-6B5DC04C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d5c14b44da8465c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3340074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AC036B6-12E1-4DDF-84C4-B99B48A3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1d1376dd5f45ca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F591C68-7EC6-435C-A8E2-1EB4ABD6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743" y="3129319"/>
            <a:ext cx="5165123" cy="3977145"/>
          </a:xfrm>
          <a:custGeom xmlns:a="http://schemas.openxmlformats.org/drawingml/2006/main">
            <a:rect l="l" t="t" r="r" b="b"/>
            <a:pathLst>
              <a:path w="5165123" h="3977145">
                <a:moveTo>
                  <a:pt x="0" y="0"/>
                </a:moveTo>
                <a:lnTo>
                  <a:pt x="5165123" y="0"/>
                </a:lnTo>
                <a:lnTo>
                  <a:pt x="5165123" y="3977145"/>
                </a:lnTo>
                <a:lnTo>
                  <a:pt x="0" y="39771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6deb1c0f9e24a4e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A69D987-D072-48E7-9B08-59A59D0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268" y="3129319"/>
            <a:ext cx="6273649" cy="4073111"/>
          </a:xfrm>
          <a:custGeom xmlns:a="http://schemas.openxmlformats.org/drawingml/2006/main">
            <a:rect l="l" t="t" r="r" b="b"/>
            <a:pathLst>
              <a:path w="6273649" h="4073111">
                <a:moveTo>
                  <a:pt x="0" y="0"/>
                </a:moveTo>
                <a:lnTo>
                  <a:pt x="6273649" y="0"/>
                </a:lnTo>
                <a:lnTo>
                  <a:pt x="6273649" y="4073111"/>
                </a:lnTo>
                <a:lnTo>
                  <a:pt x="0" y="40731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515092fd3d5474a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EFFE1DC-A795-4B15-97C5-27C6A9C7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0477" y="7518943"/>
            <a:ext cx="5650629" cy="2556910"/>
          </a:xfrm>
          <a:custGeom xmlns:a="http://schemas.openxmlformats.org/drawingml/2006/main">
            <a:rect l="l" t="t" r="r" b="b"/>
            <a:pathLst>
              <a:path w="5650629" h="2556910">
                <a:moveTo>
                  <a:pt x="0" y="0"/>
                </a:moveTo>
                <a:lnTo>
                  <a:pt x="5650629" y="0"/>
                </a:lnTo>
                <a:lnTo>
                  <a:pt x="5650629" y="2556910"/>
                </a:lnTo>
                <a:lnTo>
                  <a:pt x="0" y="25569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5881280f5944c4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2F8B911-F4F3-46E4-AFA7-D140FB9D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152" y="7207074"/>
            <a:ext cx="6253468" cy="2868779"/>
          </a:xfrm>
          <a:custGeom xmlns:a="http://schemas.openxmlformats.org/drawingml/2006/main">
            <a:rect l="l" t="t" r="r" b="b"/>
            <a:pathLst>
              <a:path w="6253468" h="2868779">
                <a:moveTo>
                  <a:pt x="0" y="0"/>
                </a:moveTo>
                <a:lnTo>
                  <a:pt x="6253469" y="0"/>
                </a:lnTo>
                <a:lnTo>
                  <a:pt x="6253469" y="2868779"/>
                </a:lnTo>
                <a:lnTo>
                  <a:pt x="0" y="28687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bfdb33449d4a03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231DC99-2BB5-430B-AB0A-24F51FB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575979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+ Granulometría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FD6DF64-E1EF-4638-81C0-86362E1E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45" y="1583085"/>
            <a:ext cx="444966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Segmentación de carga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755AAA-0038-48CE-BEA2-59C31BE4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581" y="2281594"/>
            <a:ext cx="10482114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4) Entrenamiento de modelo yolo para segmentar carga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742A2A2-75FC-4237-BA05-5AACB4ED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5e903eaee94e64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028652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1B7D065-D5A6-47A5-87F1-89C0DE6C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22b7922d6cc46db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18687AE-823F-404A-97D2-B95A818D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8614" y="4262804"/>
            <a:ext cx="6520309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825"/>
              </a:lnSpc>
              <a:buNone/>
            </a:pPr>
            <a:r>
              <a:rPr sz="4854" b="1" i="1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</a:rPr>
              <a:t>Pipeline: Cono de Carga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28843B5-B5CF-4AD9-BA9A-6C76DB83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adeb1eb4c542b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3728079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3793A2B-8302-40CC-B025-2750AF03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3e7b8c9b0c4511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CF002DB-20D2-41FA-8BC2-CC9B299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4a8bbd7a194f0f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8C1CE3E-1878-436E-BA30-FE30519A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9286" y="3628148"/>
            <a:ext cx="4862342" cy="4136403"/>
          </a:xfrm>
          <a:custGeom xmlns:a="http://schemas.openxmlformats.org/drawingml/2006/main">
            <a:rect l="l" t="t" r="r" b="b"/>
            <a:pathLst>
              <a:path w="4862342" h="4136403">
                <a:moveTo>
                  <a:pt x="0" y="0"/>
                </a:moveTo>
                <a:lnTo>
                  <a:pt x="4862342" y="0"/>
                </a:lnTo>
                <a:lnTo>
                  <a:pt x="4862342" y="4136403"/>
                </a:lnTo>
                <a:lnTo>
                  <a:pt x="0" y="413640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3dfb374acb469a"/>
            <a:stretch>
              <a:fillRect l="-27340" t="0" r="-23232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270FB7E-4D21-419A-8477-9951C693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4522" y="3608079"/>
            <a:ext cx="5073860" cy="4214577"/>
          </a:xfrm>
          <a:custGeom xmlns:a="http://schemas.openxmlformats.org/drawingml/2006/main">
            <a:rect l="l" t="t" r="r" b="b"/>
            <a:pathLst>
              <a:path w="5073860" h="4214577">
                <a:moveTo>
                  <a:pt x="0" y="0"/>
                </a:moveTo>
                <a:lnTo>
                  <a:pt x="5073860" y="0"/>
                </a:lnTo>
                <a:lnTo>
                  <a:pt x="5073860" y="4214577"/>
                </a:lnTo>
                <a:lnTo>
                  <a:pt x="0" y="42145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0c2a76b36c14c5c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A700540-CE1C-4D11-A6F2-11AADA74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45" y="3608079"/>
            <a:ext cx="5148345" cy="4214577"/>
          </a:xfrm>
          <a:custGeom xmlns:a="http://schemas.openxmlformats.org/drawingml/2006/main">
            <a:rect l="l" t="t" r="r" b="b"/>
            <a:pathLst>
              <a:path w="5148345" h="4214577">
                <a:moveTo>
                  <a:pt x="0" y="0"/>
                </a:moveTo>
                <a:lnTo>
                  <a:pt x="5148346" y="0"/>
                </a:lnTo>
                <a:lnTo>
                  <a:pt x="5148346" y="4214577"/>
                </a:lnTo>
                <a:lnTo>
                  <a:pt x="0" y="42145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867c7322744a0b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C6D594-1B53-420A-BCB3-6F28DD7E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27210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A2634E9-5D42-45CB-90D1-C43A750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70079"/>
            <a:ext cx="5782568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5) Cono: Creación del analítico</a:t>
            </a:r>
          </a:p>
        </p:txBody>
      </p:sp>
      <p:sp>
        <p:nvSpPr>
          <p:cNvPr id="13" name="Header title 21">
            <a:extLst xmlns:a="http://schemas.openxmlformats.org/drawingml/2006/main">
              <a:ext uri="{FF2B5EF4-FFF2-40B4-BE49-F238E27FC236}">
                <a16:creationId xmlns:a16="http://schemas.microsoft.com/office/drawing/2014/main" id="{C763743D-5D35-47C4-81B0-0BE919CE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5) Cono: Creación del analítico</a:t>
            </a:r>
          </a:p>
        </p:txBody>
      </p:sp>
      <p:sp>
        <p:nvSpPr>
          <p:cNvPr id="14" name="Header subtitle 21">
            <a:extLst xmlns:a="http://schemas.openxmlformats.org/drawingml/2006/main">
              <a:ext uri="{FF2B5EF4-FFF2-40B4-BE49-F238E27FC236}">
                <a16:creationId xmlns:a16="http://schemas.microsoft.com/office/drawing/2014/main" id="{0EB1C6E4-4AE7-471F-9EBD-A27AF682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Definición del criterio para analizar el cono de carga.</a:t>
            </a:r>
          </a:p>
        </p:txBody>
      </p:sp>
      <p:sp>
        <p:nvSpPr>
          <p:cNvPr id="15" name="Header divider 21">
            <a:extLst xmlns:a="http://schemas.openxmlformats.org/drawingml/2006/main">
              <a:ext uri="{FF2B5EF4-FFF2-40B4-BE49-F238E27FC236}">
                <a16:creationId xmlns:a16="http://schemas.microsoft.com/office/drawing/2014/main" id="{A6D09142-A430-40DF-A095-89F546BF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739839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735D7FD-B168-4854-A02D-3B8E90A4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49c46e47244be9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B26D440-C041-40B6-96E4-0C031427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b61c3444a94930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4177DEB-2896-4588-AD18-8AEBD6C5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65479"/>
            <a:ext cx="10282910" cy="5784137"/>
          </a:xfrm>
          <a:custGeom xmlns:a="http://schemas.openxmlformats.org/drawingml/2006/main">
            <a:rect l="l" t="t" r="r" b="b"/>
            <a:pathLst>
              <a:path w="10282910" h="5784137">
                <a:moveTo>
                  <a:pt x="0" y="0"/>
                </a:moveTo>
                <a:lnTo>
                  <a:pt x="10282910" y="0"/>
                </a:lnTo>
                <a:lnTo>
                  <a:pt x="10282910" y="5784137"/>
                </a:lnTo>
                <a:lnTo>
                  <a:pt x="0" y="578413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1dad9a2cd747b8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2E44DCD-EF59-4166-9F89-BC96773A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5150" y="6339461"/>
            <a:ext cx="6373409" cy="1988286"/>
          </a:xfrm>
          <a:custGeom xmlns:a="http://schemas.openxmlformats.org/drawingml/2006/main">
            <a:rect l="l" t="t" r="r" b="b"/>
            <a:pathLst>
              <a:path w="6373409" h="1988286">
                <a:moveTo>
                  <a:pt x="0" y="0"/>
                </a:moveTo>
                <a:lnTo>
                  <a:pt x="6373409" y="0"/>
                </a:lnTo>
                <a:lnTo>
                  <a:pt x="6373409" y="1988285"/>
                </a:lnTo>
                <a:lnTo>
                  <a:pt x="0" y="19882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68f6bea8704e09"/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CB7ECA7-D24D-4AEE-BE41-AC2B359D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27210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8EE902-C1D5-46C4-B8CC-46E6378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70079"/>
            <a:ext cx="6413302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6) Cono: Evaluación de resultados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087986-6634-449E-8FF8-8354E5BE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097" y="3055954"/>
            <a:ext cx="6314463" cy="2466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3"/>
              </a:lnSpc>
              <a:buNone/>
            </a:pPr>
            <a:r>
              <a:rPr sz="27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Métricas y resultados: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Nombre del frame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Desviación de la punta de la carga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Desviación del área de la carga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Categoría (Izquierda, centrado, derecha)</a:t>
            </a:r>
          </a:p>
        </p:txBody>
      </p:sp>
      <p:sp>
        <p:nvSpPr>
          <p:cNvPr id="13" name="Header title 22">
            <a:extLst xmlns:a="http://schemas.openxmlformats.org/drawingml/2006/main">
              <a:ext uri="{FF2B5EF4-FFF2-40B4-BE49-F238E27FC236}">
                <a16:creationId xmlns:a16="http://schemas.microsoft.com/office/drawing/2014/main" id="{D0CC3721-3E59-46D2-8496-5BFBE7B4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6) Cono: Evaluación de resultados</a:t>
            </a:r>
          </a:p>
        </p:txBody>
      </p:sp>
      <p:sp>
        <p:nvSpPr>
          <p:cNvPr id="14" name="Header subtitle 22">
            <a:extLst xmlns:a="http://schemas.openxmlformats.org/drawingml/2006/main">
              <a:ext uri="{FF2B5EF4-FFF2-40B4-BE49-F238E27FC236}">
                <a16:creationId xmlns:a16="http://schemas.microsoft.com/office/drawing/2014/main" id="{60BE8A82-C9A0-497A-8434-F110C9E9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Revisión visual de resultados y comportamiento del analítico.</a:t>
            </a:r>
          </a:p>
        </p:txBody>
      </p:sp>
      <p:sp>
        <p:nvSpPr>
          <p:cNvPr id="15" name="Header divider 22">
            <a:extLst xmlns:a="http://schemas.openxmlformats.org/drawingml/2006/main">
              <a:ext uri="{FF2B5EF4-FFF2-40B4-BE49-F238E27FC236}">
                <a16:creationId xmlns:a16="http://schemas.microsoft.com/office/drawing/2014/main" id="{82A5B70B-9D7B-479D-A348-6E9DFC7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08094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DB3D67B-B9BE-4699-990C-8ED01DD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e0a7a0296e0459d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C237459-5337-4890-B6C3-B6335553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e5146ea53f4dd5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A6AC10E-52BE-4574-BC2A-C4F5403E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65479"/>
            <a:ext cx="10282910" cy="5784137"/>
          </a:xfrm>
          <a:custGeom xmlns:a="http://schemas.openxmlformats.org/drawingml/2006/main">
            <a:rect l="l" t="t" r="r" b="b"/>
            <a:pathLst>
              <a:path w="10282910" h="5784137">
                <a:moveTo>
                  <a:pt x="0" y="0"/>
                </a:moveTo>
                <a:lnTo>
                  <a:pt x="10282910" y="0"/>
                </a:lnTo>
                <a:lnTo>
                  <a:pt x="10282910" y="5784137"/>
                </a:lnTo>
                <a:lnTo>
                  <a:pt x="0" y="578413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12d1aae3014ef8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27B283D-DC75-4E28-BD3B-D2A0974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5150" y="6339461"/>
            <a:ext cx="6373409" cy="1988286"/>
          </a:xfrm>
          <a:custGeom xmlns:a="http://schemas.openxmlformats.org/drawingml/2006/main">
            <a:rect l="l" t="t" r="r" b="b"/>
            <a:pathLst>
              <a:path w="6373409" h="1988286">
                <a:moveTo>
                  <a:pt x="0" y="0"/>
                </a:moveTo>
                <a:lnTo>
                  <a:pt x="6373409" y="0"/>
                </a:lnTo>
                <a:lnTo>
                  <a:pt x="6373409" y="1988285"/>
                </a:lnTo>
                <a:lnTo>
                  <a:pt x="0" y="19882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127d9ad48444d5"/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C58DB64-CDDE-4395-AB8C-645EB246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27210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C992F4F-4C0B-4BCF-B4A0-233DC44A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16608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205FE80-131E-4EA8-B993-EB18D1E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097" y="3055954"/>
            <a:ext cx="6314463" cy="2466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3"/>
              </a:lnSpc>
              <a:buNone/>
            </a:pPr>
            <a:r>
              <a:rPr sz="27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Métricas y resultados: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Nombre del frame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Desviación de la punta de la carga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Desviación del área de la carga</a:t>
            </a:r>
          </a:p>
          <a:p xmlns:a="http://schemas.openxmlformats.org/drawingml/2006/main">
            <a:pPr marL="583490" indent="-291745" algn="l">
              <a:lnSpc>
                <a:spcPts val="3243"/>
              </a:lnSpc>
              <a:buChar char="•"/>
            </a:pPr>
            <a:r>
              <a:rPr sz="27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Categoría (Izquierda, centrado, derecha)</a:t>
            </a:r>
          </a:p>
        </p:txBody>
      </p:sp>
      <p:sp>
        <p:nvSpPr>
          <p:cNvPr id="13" name="Header title 23">
            <a:extLst xmlns:a="http://schemas.openxmlformats.org/drawingml/2006/main">
              <a:ext uri="{FF2B5EF4-FFF2-40B4-BE49-F238E27FC236}">
                <a16:creationId xmlns:a16="http://schemas.microsoft.com/office/drawing/2014/main" id="{D55AFC05-2143-4FC8-9FF3-E8CCA13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6) Cono: Evaluación de resultados</a:t>
            </a:r>
          </a:p>
        </p:txBody>
      </p:sp>
      <p:sp>
        <p:nvSpPr>
          <p:cNvPr id="14" name="Header subtitle 23">
            <a:extLst xmlns:a="http://schemas.openxmlformats.org/drawingml/2006/main">
              <a:ext uri="{FF2B5EF4-FFF2-40B4-BE49-F238E27FC236}">
                <a16:creationId xmlns:a16="http://schemas.microsoft.com/office/drawing/2014/main" id="{F803EF0F-46F3-425F-92A9-017B6508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Revisión visual de resultados y comportamiento del analítico.</a:t>
            </a:r>
          </a:p>
        </p:txBody>
      </p:sp>
      <p:sp>
        <p:nvSpPr>
          <p:cNvPr id="15" name="Header divider 23">
            <a:extLst xmlns:a="http://schemas.openxmlformats.org/drawingml/2006/main">
              <a:ext uri="{FF2B5EF4-FFF2-40B4-BE49-F238E27FC236}">
                <a16:creationId xmlns:a16="http://schemas.microsoft.com/office/drawing/2014/main" id="{0738F28A-A376-47C0-BB03-5C0136C4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273567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ABB87F4-8B60-4FF4-A5B0-570863CB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aad17d69274f6c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D7281D5-3FEC-4BFE-A29D-75B12B5E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d6be4cb9e24120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7B62939-153A-488D-B01F-4C73B77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9525"/>
          </a:xfrm>
          <a:custGeom xmlns:a="http://schemas.openxmlformats.org/drawingml/2006/main">
            <a:rect l="l" t="t" r="r" b="b"/>
            <a:pathLst>
              <a:path w="13084230" h="6738378">
                <a:moveTo>
                  <a:pt x="0" y="0"/>
                </a:moveTo>
                <a:lnTo>
                  <a:pt x="13084230" y="0"/>
                </a:lnTo>
                <a:lnTo>
                  <a:pt x="13084230" y="6738378"/>
                </a:lnTo>
                <a:lnTo>
                  <a:pt x="0" y="67383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c00f817ba24b91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371E6F4-1EA6-4742-B854-21A9F84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27210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22B0731-1C3D-4658-832E-FAFC42AC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16608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/>
            </a:r>
          </a:p>
        </p:txBody>
      </p:sp>
      <p:sp>
        <p:nvSpPr>
          <p:cNvPr id="11" name="Header title 24">
            <a:extLst xmlns:a="http://schemas.openxmlformats.org/drawingml/2006/main">
              <a:ext uri="{FF2B5EF4-FFF2-40B4-BE49-F238E27FC236}">
                <a16:creationId xmlns:a16="http://schemas.microsoft.com/office/drawing/2014/main" id="{525BBE33-A9F0-4447-92DA-BA1184C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6) Cono: Evaluación de resultados</a:t>
            </a:r>
          </a:p>
        </p:txBody>
      </p:sp>
      <p:sp>
        <p:nvSpPr>
          <p:cNvPr id="12" name="Header subtitle 24">
            <a:extLst xmlns:a="http://schemas.openxmlformats.org/drawingml/2006/main">
              <a:ext uri="{FF2B5EF4-FFF2-40B4-BE49-F238E27FC236}">
                <a16:creationId xmlns:a16="http://schemas.microsoft.com/office/drawing/2014/main" id="{358BF375-0288-4245-95F7-9ACAC817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Revisión visual de resultados y comportamiento del analítico.</a:t>
            </a:r>
          </a:p>
        </p:txBody>
      </p:sp>
      <p:sp>
        <p:nvSpPr>
          <p:cNvPr id="13" name="Header divider 24">
            <a:extLst xmlns:a="http://schemas.openxmlformats.org/drawingml/2006/main">
              <a:ext uri="{FF2B5EF4-FFF2-40B4-BE49-F238E27FC236}">
                <a16:creationId xmlns:a16="http://schemas.microsoft.com/office/drawing/2014/main" id="{19ABDC42-9462-4C7A-8B11-6F46768F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693091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444EDB4-6EBB-4F80-8161-7EDC23C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d880218b8094194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3D2DC2F-A0A7-4896-81F8-CF9FD89E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a9f8b1d8e24956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0BB2D72-16E3-497C-A877-D08E0F5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1885" y="2376803"/>
            <a:ext cx="13084230" cy="7359879"/>
          </a:xfrm>
          <a:custGeom xmlns:a="http://schemas.openxmlformats.org/drawingml/2006/main">
            <a:rect l="l" t="t" r="r" b="b"/>
            <a:pathLst>
              <a:path w="13084230" h="7359879">
                <a:moveTo>
                  <a:pt x="0" y="0"/>
                </a:moveTo>
                <a:lnTo>
                  <a:pt x="13084230" y="0"/>
                </a:lnTo>
                <a:lnTo>
                  <a:pt x="13084230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f86123fda24774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16A5E43-1963-443A-B426-153D07B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27210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E4DF83D-C459-4AD7-9791-189A218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70079"/>
            <a:ext cx="6413302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6) Cono: Evaluación de resultados</a:t>
            </a:r>
          </a:p>
        </p:txBody>
      </p:sp>
      <p:sp>
        <p:nvSpPr>
          <p:cNvPr id="11" name="Header title 25">
            <a:extLst xmlns:a="http://schemas.openxmlformats.org/drawingml/2006/main">
              <a:ext uri="{FF2B5EF4-FFF2-40B4-BE49-F238E27FC236}">
                <a16:creationId xmlns:a16="http://schemas.microsoft.com/office/drawing/2014/main" id="{32578F39-4A69-4F65-9864-8241B228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6) Cono: Evaluación de resultados</a:t>
            </a:r>
          </a:p>
        </p:txBody>
      </p:sp>
      <p:sp>
        <p:nvSpPr>
          <p:cNvPr id="12" name="Header subtitle 25">
            <a:extLst xmlns:a="http://schemas.openxmlformats.org/drawingml/2006/main">
              <a:ext uri="{FF2B5EF4-FFF2-40B4-BE49-F238E27FC236}">
                <a16:creationId xmlns:a16="http://schemas.microsoft.com/office/drawing/2014/main" id="{D178630E-2773-4EE1-B40A-6708C9A0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Revisión visual de resultados y comportamiento del analítico.</a:t>
            </a:r>
          </a:p>
        </p:txBody>
      </p:sp>
      <p:sp>
        <p:nvSpPr>
          <p:cNvPr id="13" name="Header divider 25">
            <a:extLst xmlns:a="http://schemas.openxmlformats.org/drawingml/2006/main">
              <a:ext uri="{FF2B5EF4-FFF2-40B4-BE49-F238E27FC236}">
                <a16:creationId xmlns:a16="http://schemas.microsoft.com/office/drawing/2014/main" id="{A92464DF-0042-4E37-AE7B-F3CD6ED7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980981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8FC6079-A0C0-409A-AC2B-75B8ACB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9ef109d3bb4be4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E085CBB-AD64-489E-B09A-DD357DC0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d82b5089c14b1f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5B6DF60-1CE0-4F0B-B21C-30CF5549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2134" y="2740490"/>
            <a:ext cx="10812044" cy="7095404"/>
          </a:xfrm>
          <a:custGeom xmlns:a="http://schemas.openxmlformats.org/drawingml/2006/main">
            <a:rect l="l" t="t" r="r" b="b"/>
            <a:pathLst>
              <a:path w="10812044" h="7095404">
                <a:moveTo>
                  <a:pt x="0" y="0"/>
                </a:moveTo>
                <a:lnTo>
                  <a:pt x="10812044" y="0"/>
                </a:lnTo>
                <a:lnTo>
                  <a:pt x="10812044" y="7095404"/>
                </a:lnTo>
                <a:lnTo>
                  <a:pt x="0" y="70954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ae7a31ef304437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B7C09F5-39A1-4D62-93DA-54734A0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4404866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de Carga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50E76DC-117B-422C-A644-CD969DC0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70079"/>
            <a:ext cx="6876901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7) Demostración a través de webapp</a:t>
            </a:r>
          </a:p>
        </p:txBody>
      </p:sp>
      <p:sp>
        <p:nvSpPr>
          <p:cNvPr id="11" name="Header title 26">
            <a:extLst xmlns:a="http://schemas.openxmlformats.org/drawingml/2006/main">
              <a:ext uri="{FF2B5EF4-FFF2-40B4-BE49-F238E27FC236}">
                <a16:creationId xmlns:a16="http://schemas.microsoft.com/office/drawing/2014/main" id="{29B31496-3C15-48D0-8E47-F80B969D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7) Demostración a través de webapp</a:t>
            </a:r>
          </a:p>
        </p:txBody>
      </p:sp>
      <p:sp>
        <p:nvSpPr>
          <p:cNvPr id="12" name="Header subtitle 26">
            <a:extLst xmlns:a="http://schemas.openxmlformats.org/drawingml/2006/main">
              <a:ext uri="{FF2B5EF4-FFF2-40B4-BE49-F238E27FC236}">
                <a16:creationId xmlns:a16="http://schemas.microsoft.com/office/drawing/2014/main" id="{DFBE0A87-FB56-4933-949F-8AF6CE9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Ejecución del flujo en una herramienta operativa.</a:t>
            </a:r>
          </a:p>
        </p:txBody>
      </p:sp>
      <p:sp>
        <p:nvSpPr>
          <p:cNvPr id="13" name="Header divider 26">
            <a:extLst xmlns:a="http://schemas.openxmlformats.org/drawingml/2006/main">
              <a:ext uri="{FF2B5EF4-FFF2-40B4-BE49-F238E27FC236}">
                <a16:creationId xmlns:a16="http://schemas.microsoft.com/office/drawing/2014/main" id="{46C5CD15-63F5-4D82-ABFF-6BAFBDCE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1301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1C897C3-B8A1-487B-A9E2-608FC93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2bc2beb39084876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8DB430D-8A63-4096-B0D6-ED2B530C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0d5131aa7a4398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E7203FC-D3E6-482E-BF80-55DFE6C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4404866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de Carga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5EAAB4E-1A49-4B66-8564-AFC3EF8E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870" y="1877540"/>
            <a:ext cx="1067562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555555"/>
                </a:solidFill>
                <a:latin typeface="Calibri (MS)"/>
                <a:ea typeface="Calibri (MS)"/>
                <a:cs typeface="Calibri (MS)"/>
              </a:rPr>
              <a:t>Lo desarrollado hasta ahora y su nivel de madurez.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40F13CA-4CF0-4B61-BF89-A32BCDDE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" y="3595448"/>
            <a:ext cx="2960370" cy="289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Componente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05C0FF5-4CC5-4803-AF3F-362E76B9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3595448"/>
            <a:ext cx="8532495" cy="289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Avance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62F7248-7A90-47F8-BF7F-87AD4FA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0390" y="3595448"/>
            <a:ext cx="1531620" cy="289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Estado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607A160-57BE-405A-834C-4799EBA1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" y="4395548"/>
            <a:ext cx="2960370" cy="575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Datos y frames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0A6283E-C42E-4789-B1CF-C41DAD25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4395548"/>
            <a:ext cx="8532495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Carga local de videos; extraccion configurable por intervalo; manifiestos por video y frame.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CA9BB90-0135-4CED-88A9-A133D35D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0390" y="4395548"/>
            <a:ext cx="1960245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F7A4D"/>
                </a:solidFill>
                <a:latin typeface="Calibri (MS) Bold"/>
                <a:ea typeface="Calibri (MS) Bold"/>
                <a:cs typeface="Calibri (MS) Bold"/>
              </a:rPr>
              <a:t>Funcional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F417849-60BB-4320-9A32-6A43E9AB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" y="5224223"/>
            <a:ext cx="2960370" cy="575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YOLO-seg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A995DB1-DB49-4DA7-9062-3FA51F63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5224223"/>
            <a:ext cx="8532495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Repositorio de entrenamiento, Docker GPU, MLflow y modelo de referencia best.pt integrado al pipeline.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4BE3AC9-7647-4C91-9D96-8FD62CC7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0390" y="5224223"/>
            <a:ext cx="1960245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F7A4D"/>
                </a:solidFill>
                <a:latin typeface="Calibri (MS) Bold"/>
                <a:ea typeface="Calibri (MS) Bold"/>
                <a:cs typeface="Calibri (MS) Bold"/>
              </a:rPr>
              <a:t>Funcional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D4F3C0B-0356-4BEE-A237-79EBEFA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" y="6052898"/>
            <a:ext cx="2960370" cy="575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Analitico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2D430AC-094C-47FF-8C32-57685849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6052898"/>
            <a:ext cx="8532495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Features geometricas, descarte por bordes, clasificacion centrado/izquierda/derecha y overlays.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926C63D-8364-4805-A4FE-0C9FF936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0390" y="6052898"/>
            <a:ext cx="1960245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F7A4D"/>
                </a:solidFill>
                <a:latin typeface="Calibri (MS) Bold"/>
                <a:ea typeface="Calibri (MS) Bold"/>
                <a:cs typeface="Calibri (MS) Bold"/>
              </a:rPr>
              <a:t>Funcional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65EB8D8-49A1-4A4B-9E60-CD769277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" y="6881573"/>
            <a:ext cx="2960370" cy="575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Pipeline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D5779802-589F-4E68-8620-763DED6B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6881573"/>
            <a:ext cx="8532495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Orquestacion videos -&gt; frames -&gt; mascaras -&gt; features -&gt; veredicto por video.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B680F1F5-A6B3-415F-BAB9-40719D1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0390" y="6881573"/>
            <a:ext cx="1960245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F7A4D"/>
                </a:solidFill>
                <a:latin typeface="Calibri (MS) Bold"/>
                <a:ea typeface="Calibri (MS) Bold"/>
                <a:cs typeface="Calibri (MS) Bold"/>
              </a:rPr>
              <a:t>Integrado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3B13A28-F7B4-41D8-B65F-46304278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" y="7710248"/>
            <a:ext cx="2960370" cy="575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Web app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FC53BA5-7EB4-4E9B-9E5E-A54B9D37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7710248"/>
            <a:ext cx="8532495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Carga de videos, consola en vivo, overlays, estadisticas y descargas.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EF464B8-37E9-4F47-AB7D-33EB03F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0390" y="7710248"/>
            <a:ext cx="196024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FF6B35"/>
                </a:solidFill>
                <a:latin typeface="Calibri (MS) Bold"/>
                <a:ea typeface="Calibri (MS) Bold"/>
                <a:cs typeface="Calibri (MS) Bold"/>
              </a:rPr>
              <a:t>Demo operativa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BDC8F981-7052-4C1C-A332-5BDB5A6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960" y="8597978"/>
            <a:ext cx="296037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11111"/>
                </a:solidFill>
                <a:latin typeface="Calibri (MS) Bold"/>
                <a:ea typeface="Calibri (MS) Bold"/>
                <a:cs typeface="Calibri (MS) Bold"/>
              </a:rPr>
              <a:t>Mejoras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FCE6D2D5-6496-40CC-8D7C-99DA2277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6685" y="8597978"/>
            <a:ext cx="853249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Selección ampliada de dataset y ajuste de parámetros en el analítico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4FF7CA84-E7A4-4DE5-A517-D88DD587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7885" y="8597978"/>
            <a:ext cx="196024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FF6B35"/>
                </a:solidFill>
                <a:latin typeface="Calibri (MS) Bold"/>
                <a:ea typeface="Calibri (MS) Bold"/>
                <a:cs typeface="Calibri (MS) Bold"/>
              </a:rPr>
              <a:t>En progreso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52772556-E122-40D6-AF3D-D418DD6C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528" y="1333760"/>
            <a:ext cx="6990308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6) Estado de avance por componente</a:t>
            </a:r>
          </a:p>
        </p:txBody>
      </p:sp>
    </p:spTree>
    <p:extLst>
      <p:ext uri="{BB962C8B-B14F-4D97-AF65-F5344CB8AC3E}">
        <p14:creationId xmlns:p14="http://schemas.microsoft.com/office/powerpoint/2010/main" val="16735359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7416DC2-A092-4D7F-94FC-81FD9D05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7a94b848f74566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DCB0A5F-29EE-4238-8A16-1D6B02C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8614" y="4262804"/>
            <a:ext cx="6425654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825"/>
              </a:lnSpc>
              <a:buNone/>
            </a:pPr>
            <a:r>
              <a:rPr sz="4854" b="1" i="1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</a:rPr>
              <a:t>Pipeline: Granulometría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F068000-F71F-4C13-A801-5B375467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a86e8e943740b2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21330560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12709E6-00D6-4073-8733-F246E92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88399e1ebd4919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D35F666-8DFE-4915-8097-77B21D53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743" y="3129319"/>
            <a:ext cx="5165123" cy="3977145"/>
          </a:xfrm>
          <a:custGeom xmlns:a="http://schemas.openxmlformats.org/drawingml/2006/main">
            <a:rect l="l" t="t" r="r" b="b"/>
            <a:pathLst>
              <a:path w="5165123" h="3977145">
                <a:moveTo>
                  <a:pt x="0" y="0"/>
                </a:moveTo>
                <a:lnTo>
                  <a:pt x="5165123" y="0"/>
                </a:lnTo>
                <a:lnTo>
                  <a:pt x="5165123" y="3977145"/>
                </a:lnTo>
                <a:lnTo>
                  <a:pt x="0" y="39771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c59ce328964b97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607A347-3DAF-460A-B70E-97ED5E24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268" y="3129319"/>
            <a:ext cx="6273649" cy="4073111"/>
          </a:xfrm>
          <a:custGeom xmlns:a="http://schemas.openxmlformats.org/drawingml/2006/main">
            <a:rect l="l" t="t" r="r" b="b"/>
            <a:pathLst>
              <a:path w="6273649" h="4073111">
                <a:moveTo>
                  <a:pt x="0" y="0"/>
                </a:moveTo>
                <a:lnTo>
                  <a:pt x="6273649" y="0"/>
                </a:lnTo>
                <a:lnTo>
                  <a:pt x="6273649" y="4073111"/>
                </a:lnTo>
                <a:lnTo>
                  <a:pt x="0" y="40731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38954c7b2b4d1d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440B950-58BD-47F9-B424-AE431D9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0477" y="7518943"/>
            <a:ext cx="5650629" cy="2556910"/>
          </a:xfrm>
          <a:custGeom xmlns:a="http://schemas.openxmlformats.org/drawingml/2006/main">
            <a:rect l="l" t="t" r="r" b="b"/>
            <a:pathLst>
              <a:path w="5650629" h="2556910">
                <a:moveTo>
                  <a:pt x="0" y="0"/>
                </a:moveTo>
                <a:lnTo>
                  <a:pt x="5650629" y="0"/>
                </a:lnTo>
                <a:lnTo>
                  <a:pt x="5650629" y="2556910"/>
                </a:lnTo>
                <a:lnTo>
                  <a:pt x="0" y="25569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d2146a3abf40c4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5BFED07-A5F6-4B2B-9A09-323586C6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152" y="7207074"/>
            <a:ext cx="6253468" cy="2868779"/>
          </a:xfrm>
          <a:custGeom xmlns:a="http://schemas.openxmlformats.org/drawingml/2006/main">
            <a:rect l="l" t="t" r="r" b="b"/>
            <a:pathLst>
              <a:path w="6253468" h="2868779">
                <a:moveTo>
                  <a:pt x="0" y="0"/>
                </a:moveTo>
                <a:lnTo>
                  <a:pt x="6253469" y="0"/>
                </a:lnTo>
                <a:lnTo>
                  <a:pt x="6253469" y="2868779"/>
                </a:lnTo>
                <a:lnTo>
                  <a:pt x="0" y="28687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ca800a66eb453a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A4CB2E7-7E47-4308-9013-5FF6EE1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5759797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Cono + Granulometría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03CBB60-394A-4C6A-922E-3DAD13E8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10569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E196E8C-0AE4-48A8-811D-A3A6FB63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9050000" y="-19050000"/>
            <a:ext cx="9525" cy="26171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/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9F5333E-063B-4124-831B-D5CF3B12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6a119cd82545a2"/>
            <a:stretch>
              <a:fillRect l="0" t="0" r="0" b="0"/>
            </a:stretch>
          </a:blipFill>
        </p:spPr>
      </p:sp>
      <p:sp>
        <p:nvSpPr>
          <p:cNvPr id="13" name="Header title 29">
            <a:extLst xmlns:a="http://schemas.openxmlformats.org/drawingml/2006/main">
              <a:ext uri="{FF2B5EF4-FFF2-40B4-BE49-F238E27FC236}">
                <a16:creationId xmlns:a16="http://schemas.microsoft.com/office/drawing/2014/main" id="{D1C64D98-1987-4283-B12F-0607C56F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4) Entrenamiento de modelo yolo para segmentar carga</a:t>
            </a:r>
          </a:p>
        </p:txBody>
      </p:sp>
      <p:sp>
        <p:nvSpPr>
          <p:cNvPr id="14" name="Header subtitle 29">
            <a:extLst xmlns:a="http://schemas.openxmlformats.org/drawingml/2006/main">
              <a:ext uri="{FF2B5EF4-FFF2-40B4-BE49-F238E27FC236}">
                <a16:creationId xmlns:a16="http://schemas.microsoft.com/office/drawing/2014/main" id="{AD74F0A7-45DA-4DA6-97F3-229388D0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Segmentación de carga.</a:t>
            </a:r>
          </a:p>
        </p:txBody>
      </p:sp>
      <p:sp>
        <p:nvSpPr>
          <p:cNvPr id="15" name="Header divider 29">
            <a:extLst xmlns:a="http://schemas.openxmlformats.org/drawingml/2006/main">
              <a:ext uri="{FF2B5EF4-FFF2-40B4-BE49-F238E27FC236}">
                <a16:creationId xmlns:a16="http://schemas.microsoft.com/office/drawing/2014/main" id="{81786CC1-3C02-43B2-AA4F-B6FEC873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134249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B2A9B55-798E-4D06-B6BE-447D3418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7d5838628e4ea2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DCA0413-77F5-4D06-BE8A-416FF99B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9dc4bb411a43a3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4E4E99D-7807-4CCB-926E-DCFF7672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7808" y="2837020"/>
            <a:ext cx="5956157" cy="3496583"/>
          </a:xfrm>
          <a:custGeom xmlns:a="http://schemas.openxmlformats.org/drawingml/2006/main">
            <a:rect l="l" t="t" r="r" b="b"/>
            <a:pathLst>
              <a:path w="5956157" h="3496583">
                <a:moveTo>
                  <a:pt x="0" y="0"/>
                </a:moveTo>
                <a:lnTo>
                  <a:pt x="5956157" y="0"/>
                </a:lnTo>
                <a:lnTo>
                  <a:pt x="5956157" y="3496583"/>
                </a:lnTo>
                <a:lnTo>
                  <a:pt x="0" y="34965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06362469a7472c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6108E93-6E04-42C9-BB46-189A699E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154" y="2827481"/>
            <a:ext cx="5897902" cy="3462384"/>
          </a:xfrm>
          <a:custGeom xmlns:a="http://schemas.openxmlformats.org/drawingml/2006/main">
            <a:rect l="l" t="t" r="r" b="b"/>
            <a:pathLst>
              <a:path w="5897902" h="3462384">
                <a:moveTo>
                  <a:pt x="0" y="0"/>
                </a:moveTo>
                <a:lnTo>
                  <a:pt x="5897901" y="0"/>
                </a:lnTo>
                <a:lnTo>
                  <a:pt x="5897901" y="3462384"/>
                </a:lnTo>
                <a:lnTo>
                  <a:pt x="0" y="34623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24d5ffbd644036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7996F4B-39B0-49DD-9017-9DAF34BD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6711" y="7768184"/>
            <a:ext cx="1326866" cy="1326866"/>
          </a:xfrm>
          <a:custGeom xmlns:a="http://schemas.openxmlformats.org/drawingml/2006/main">
            <a:rect l="l" t="t" r="r" b="b"/>
            <a:pathLst>
              <a:path w="1326866" h="1326866">
                <a:moveTo>
                  <a:pt x="0" y="0"/>
                </a:moveTo>
                <a:lnTo>
                  <a:pt x="1326866" y="0"/>
                </a:lnTo>
                <a:lnTo>
                  <a:pt x="1326866" y="1326866"/>
                </a:lnTo>
                <a:lnTo>
                  <a:pt x="0" y="13268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4260d47a944112"/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ED4181D-171F-4105-886F-257D558A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1863" y="7736854"/>
            <a:ext cx="1358196" cy="1358196"/>
          </a:xfrm>
          <a:custGeom xmlns:a="http://schemas.openxmlformats.org/drawingml/2006/main">
            <a:rect l="l" t="t" r="r" b="b"/>
            <a:pathLst>
              <a:path w="1358196" h="1358196">
                <a:moveTo>
                  <a:pt x="0" y="0"/>
                </a:moveTo>
                <a:lnTo>
                  <a:pt x="1358196" y="0"/>
                </a:lnTo>
                <a:lnTo>
                  <a:pt x="1358196" y="1358196"/>
                </a:lnTo>
                <a:lnTo>
                  <a:pt x="0" y="135819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4f1501bdd347f1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0314168-72C9-4F61-95BB-B6B5705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5129" y="7736854"/>
            <a:ext cx="1314116" cy="1314116"/>
          </a:xfrm>
          <a:custGeom xmlns:a="http://schemas.openxmlformats.org/drawingml/2006/main">
            <a:rect l="l" t="t" r="r" b="b"/>
            <a:pathLst>
              <a:path w="1314116" h="1314116">
                <a:moveTo>
                  <a:pt x="0" y="0"/>
                </a:moveTo>
                <a:lnTo>
                  <a:pt x="1314117" y="0"/>
                </a:lnTo>
                <a:lnTo>
                  <a:pt x="1314117" y="1314116"/>
                </a:lnTo>
                <a:lnTo>
                  <a:pt x="0" y="13141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a660d0062a041f9"/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068B0FC-1206-4511-92EF-92E747B8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0746" y="7718319"/>
            <a:ext cx="1258018" cy="1258018"/>
          </a:xfrm>
          <a:custGeom xmlns:a="http://schemas.openxmlformats.org/drawingml/2006/main">
            <a:rect l="l" t="t" r="r" b="b"/>
            <a:pathLst>
              <a:path w="1258018" h="1258018">
                <a:moveTo>
                  <a:pt x="0" y="0"/>
                </a:moveTo>
                <a:lnTo>
                  <a:pt x="1258018" y="0"/>
                </a:lnTo>
                <a:lnTo>
                  <a:pt x="1258018" y="1258018"/>
                </a:lnTo>
                <a:lnTo>
                  <a:pt x="0" y="125801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091173308748d6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FBB46ED-BC9E-48F9-B372-DF99340A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043" y="7687213"/>
            <a:ext cx="1289124" cy="1289124"/>
          </a:xfrm>
          <a:custGeom xmlns:a="http://schemas.openxmlformats.org/drawingml/2006/main">
            <a:rect l="l" t="t" r="r" b="b"/>
            <a:pathLst>
              <a:path w="1289124" h="1289124">
                <a:moveTo>
                  <a:pt x="0" y="0"/>
                </a:moveTo>
                <a:lnTo>
                  <a:pt x="1289125" y="0"/>
                </a:lnTo>
                <a:lnTo>
                  <a:pt x="1289125" y="1289124"/>
                </a:lnTo>
                <a:lnTo>
                  <a:pt x="0" y="128912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474414ee3b402b"/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D19C99D-8A38-4C69-9D64-047E67D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3652" y="7749626"/>
            <a:ext cx="1332651" cy="1332651"/>
          </a:xfrm>
          <a:custGeom xmlns:a="http://schemas.openxmlformats.org/drawingml/2006/main">
            <a:rect l="l" t="t" r="r" b="b"/>
            <a:pathLst>
              <a:path w="1332651" h="1332651">
                <a:moveTo>
                  <a:pt x="0" y="0"/>
                </a:moveTo>
                <a:lnTo>
                  <a:pt x="1332651" y="0"/>
                </a:lnTo>
                <a:lnTo>
                  <a:pt x="1332651" y="1332651"/>
                </a:lnTo>
                <a:lnTo>
                  <a:pt x="0" y="133265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3e9edb7cf14478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345B901-91DB-435D-8F6C-483F54E7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2632" y="4747139"/>
            <a:ext cx="1397427" cy="396361"/>
          </a:xfrm>
          <a:custGeom xmlns:a="http://schemas.openxmlformats.org/drawingml/2006/main">
            <a:rect l="l" t="t" r="r" b="b"/>
            <a:pathLst>
              <a:path w="1397427" h="396361">
                <a:moveTo>
                  <a:pt x="0" y="0"/>
                </a:moveTo>
                <a:lnTo>
                  <a:pt x="1397427" y="0"/>
                </a:lnTo>
                <a:lnTo>
                  <a:pt x="1397427" y="396361"/>
                </a:lnTo>
                <a:lnTo>
                  <a:pt x="0" y="3963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e7a4b813fc430d">
              <a:extLst>
                <a:ext uri="{96DAC541-7B7A-43D3-8B79-37D633B846F1}">
                  <asvg:svgBlip xmlns:asvg="http://schemas.microsoft.com/office/drawing/2016/SVG/main" r:embed="Rc422b76296bc4ff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5B58AC-58F2-482B-8279-7D10144B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6158061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Granulometría en Tolva 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13AD5A-97F1-429A-B56A-C4B0550B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20214"/>
            <a:ext cx="4576316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5) Creación del analítico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BBA5D3B-B3AB-4DB8-AD98-BBCB8D3D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163" y="6324078"/>
            <a:ext cx="4719200" cy="401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140"/>
              </a:lnSpc>
              <a:spcBef>
                <a:spcPts val="0"/>
              </a:spcBef>
              <a:buNone/>
            </a:pPr>
            <a:r>
              <a:rPr sz="2616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Carga con grilla numerada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12097CE-F1F0-4ED4-8903-1D014CC6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384" y="6270815"/>
            <a:ext cx="2972328" cy="433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17"/>
              </a:lnSpc>
              <a:spcBef>
                <a:spcPts val="0"/>
              </a:spcBef>
              <a:buNone/>
            </a:pPr>
            <a:r>
              <a:rPr sz="2764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Carga segmentada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8CDC123-149D-45CB-83F9-1D8CDDE7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301" y="9209740"/>
            <a:ext cx="3988158" cy="8065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188"/>
              </a:lnSpc>
              <a:spcBef>
                <a:spcPts val="0"/>
              </a:spcBef>
              <a:buNone/>
            </a:pPr>
            <a:r>
              <a:rPr sz="2657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Parches resultantes para clasificar</a:t>
            </a:r>
          </a:p>
        </p:txBody>
      </p:sp>
      <p:sp>
        <p:nvSpPr>
          <p:cNvPr id="22" name="Header title 30">
            <a:extLst xmlns:a="http://schemas.openxmlformats.org/drawingml/2006/main">
              <a:ext uri="{FF2B5EF4-FFF2-40B4-BE49-F238E27FC236}">
                <a16:creationId xmlns:a16="http://schemas.microsoft.com/office/drawing/2014/main" id="{C74765E5-6267-4DDE-9B88-2CCBD1F2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5) Creación del analítico</a:t>
            </a:r>
          </a:p>
        </p:txBody>
      </p:sp>
      <p:sp>
        <p:nvSpPr>
          <p:cNvPr id="23" name="Header subtitle 30">
            <a:extLst xmlns:a="http://schemas.openxmlformats.org/drawingml/2006/main">
              <a:ext uri="{FF2B5EF4-FFF2-40B4-BE49-F238E27FC236}">
                <a16:creationId xmlns:a16="http://schemas.microsoft.com/office/drawing/2014/main" id="{76115557-79FE-49EE-89C7-F4E1D255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Definición del analítico para estimar granulometría en tolva.</a:t>
            </a:r>
          </a:p>
        </p:txBody>
      </p:sp>
      <p:sp>
        <p:nvSpPr>
          <p:cNvPr id="24" name="Header divider 30">
            <a:extLst xmlns:a="http://schemas.openxmlformats.org/drawingml/2006/main">
              <a:ext uri="{FF2B5EF4-FFF2-40B4-BE49-F238E27FC236}">
                <a16:creationId xmlns:a16="http://schemas.microsoft.com/office/drawing/2014/main" id="{1780F59A-B4EB-45F9-B0CA-A9C8B65B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45915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C52D587-EA5E-4490-BC52-40500878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11494d5ee5a4a51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7FBC6CF-858E-49BD-967D-4A03481A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049" y="8555879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3" y="0"/>
                </a:lnTo>
                <a:lnTo>
                  <a:pt x="2037483" y="2037484"/>
                </a:lnTo>
                <a:lnTo>
                  <a:pt x="0" y="2037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102baf1f384807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66EC167-CC57-4A8E-A4A2-78EC66A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70079"/>
            <a:ext cx="984185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6) Entrenamiento de modelo clasificador de parches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E00ABFD-47C3-4761-9F79-43310526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6158061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Granulometría en Tolva </a:t>
            </a:r>
          </a:p>
        </p:txBody>
      </p:sp>
      <p:sp>
        <p:nvSpPr>
          <p:cNvPr id="10" name="Header title 31">
            <a:extLst xmlns:a="http://schemas.openxmlformats.org/drawingml/2006/main">
              <a:ext uri="{FF2B5EF4-FFF2-40B4-BE49-F238E27FC236}">
                <a16:creationId xmlns:a16="http://schemas.microsoft.com/office/drawing/2014/main" id="{88057731-7308-4D13-89BD-C7E9C78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6) Entrenamiento de modelo clasificador de parches</a:t>
            </a:r>
          </a:p>
        </p:txBody>
      </p:sp>
      <p:sp>
        <p:nvSpPr>
          <p:cNvPr id="11" name="Header subtitle 31">
            <a:extLst xmlns:a="http://schemas.openxmlformats.org/drawingml/2006/main">
              <a:ext uri="{FF2B5EF4-FFF2-40B4-BE49-F238E27FC236}">
                <a16:creationId xmlns:a16="http://schemas.microsoft.com/office/drawing/2014/main" id="{2CA99B0B-D358-4FFF-8331-5F26A82F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Clasificación visual de material fino, medio y grueso.</a:t>
            </a:r>
          </a:p>
        </p:txBody>
      </p:sp>
      <p:sp>
        <p:nvSpPr>
          <p:cNvPr id="12" name="Header divider 31">
            <a:extLst xmlns:a="http://schemas.openxmlformats.org/drawingml/2006/main">
              <a:ext uri="{FF2B5EF4-FFF2-40B4-BE49-F238E27FC236}">
                <a16:creationId xmlns:a16="http://schemas.microsoft.com/office/drawing/2014/main" id="{00932AB3-08E0-414F-9512-C30290B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2533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4051798-CD02-430E-9F80-85461961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7e715327cf465e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00E53BC-3D35-4553-B854-ACAB3E40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bfd713e84414e64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BE3ADB4-5B1B-4B1A-89AE-712A901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852" y="3537323"/>
            <a:ext cx="8955207" cy="4157774"/>
          </a:xfrm>
          <a:custGeom xmlns:a="http://schemas.openxmlformats.org/drawingml/2006/main">
            <a:rect l="l" t="t" r="r" b="b"/>
            <a:pathLst>
              <a:path w="8955207" h="4157774">
                <a:moveTo>
                  <a:pt x="0" y="0"/>
                </a:moveTo>
                <a:lnTo>
                  <a:pt x="8955206" y="0"/>
                </a:lnTo>
                <a:lnTo>
                  <a:pt x="8955206" y="4157775"/>
                </a:lnTo>
                <a:lnTo>
                  <a:pt x="0" y="4157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5101fdba9db4f76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6B54A65-799C-41D6-BC0C-7F100807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70079"/>
            <a:ext cx="350773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6) Salida esperada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8FEEA78-0198-4C43-B0C7-F264302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2440" y="3527798"/>
            <a:ext cx="6314463" cy="432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3"/>
              </a:lnSpc>
              <a:buNone/>
            </a:pPr>
            <a:r>
              <a:rPr sz="27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Resultados</a:t>
            </a:r>
          </a:p>
          <a:p xmlns:a="http://schemas.openxmlformats.org/drawingml/2006/main">
            <a:pPr algn="l">
              <a:lnSpc>
                <a:spcPts val="3243"/>
              </a:lnSpc>
              <a:buNone/>
            </a:pPr>
          </a:p>
          <a:p xmlns:a="http://schemas.openxmlformats.org/drawingml/2006/main">
            <a:pPr marL="497132" indent="-248566" algn="l">
              <a:lnSpc>
                <a:spcPts val="2763"/>
              </a:lnSpc>
              <a:buChar char="•"/>
            </a:pPr>
            <a:r>
              <a:rPr sz="23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P</a:t>
            </a:r>
            <a:r>
              <a:rPr sz="23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orcentaje estimado de material fino, medio y grueso.</a:t>
            </a:r>
          </a:p>
          <a:p xmlns:a="http://schemas.openxmlformats.org/drawingml/2006/main">
            <a:pPr marL="497132" indent="-248566" algn="l">
              <a:lnSpc>
                <a:spcPts val="2763"/>
              </a:lnSpc>
              <a:buChar char="•"/>
            </a:pPr>
            <a:r>
              <a:rPr sz="23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Evidencia v</a:t>
            </a:r>
            <a:r>
              <a:rPr sz="23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isual de dónde se ubica cada tipo de material.</a:t>
            </a:r>
          </a:p>
          <a:p xmlns:a="http://schemas.openxmlformats.org/drawingml/2006/main">
            <a:pPr marL="497132" indent="-248566" algn="l">
              <a:lnSpc>
                <a:spcPts val="2763"/>
              </a:lnSpc>
              <a:buChar char="•"/>
            </a:pPr>
            <a:r>
              <a:rPr sz="23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Mapeo exhaustivo por zonas: fino, medio y grueso.</a:t>
            </a:r>
          </a:p>
          <a:p xmlns:a="http://schemas.openxmlformats.org/drawingml/2006/main">
            <a:pPr marL="497132" indent="-248566" algn="l">
              <a:lnSpc>
                <a:spcPts val="2763"/>
              </a:lnSpc>
              <a:buChar char="•"/>
            </a:pPr>
            <a:r>
              <a:rPr sz="23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Comparación entre camiones y cargas.</a:t>
            </a:r>
          </a:p>
          <a:p xmlns:a="http://schemas.openxmlformats.org/drawingml/2006/main">
            <a:pPr marL="497132" indent="-248566" algn="l">
              <a:lnSpc>
                <a:spcPts val="2763"/>
              </a:lnSpc>
              <a:buChar char="•"/>
            </a:pPr>
            <a:r>
              <a:rPr sz="2302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Apoyo para seguimiento de calidad del material transportado.</a:t>
            </a:r>
          </a:p>
          <a:p xmlns:a="http://schemas.openxmlformats.org/drawingml/2006/main">
            <a:pPr algn="l">
              <a:lnSpc>
                <a:spcPts val="3243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70125B-6665-40BE-9342-D4B7A27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6158061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Granulometría en Tolva 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5D3F1A-FC93-4D1E-9735-41972CE6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771" y="8017031"/>
            <a:ext cx="8961271" cy="5634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15"/>
              </a:lnSpc>
              <a:spcBef>
                <a:spcPts val="0"/>
              </a:spcBef>
              <a:buNone/>
            </a:pPr>
            <a:r>
              <a:rPr sz="1846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La salida permite transformar una imagen de la tolva en un indicador de composición</a:t>
            </a:r>
          </a:p>
          <a:p xmlns:a="http://schemas.openxmlformats.org/drawingml/2006/main">
            <a:pPr algn="ctr">
              <a:lnSpc>
                <a:spcPts val="2215"/>
              </a:lnSpc>
              <a:spcBef>
                <a:spcPts val="0"/>
              </a:spcBef>
              <a:buNone/>
            </a:pPr>
            <a:r>
              <a:rPr sz="1846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 granulométrica.</a:t>
            </a:r>
          </a:p>
        </p:txBody>
      </p:sp>
      <p:sp>
        <p:nvSpPr>
          <p:cNvPr id="13" name="Header title 32">
            <a:extLst xmlns:a="http://schemas.openxmlformats.org/drawingml/2006/main">
              <a:ext uri="{FF2B5EF4-FFF2-40B4-BE49-F238E27FC236}">
                <a16:creationId xmlns:a16="http://schemas.microsoft.com/office/drawing/2014/main" id="{06239DE1-7CA7-41F3-84DA-E0D8ED2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" y="1333786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6) Salida esperada</a:t>
            </a:r>
          </a:p>
        </p:txBody>
      </p:sp>
      <p:sp>
        <p:nvSpPr>
          <p:cNvPr id="14" name="Header subtitle 32">
            <a:extLst xmlns:a="http://schemas.openxmlformats.org/drawingml/2006/main">
              <a:ext uri="{FF2B5EF4-FFF2-40B4-BE49-F238E27FC236}">
                <a16:creationId xmlns:a16="http://schemas.microsoft.com/office/drawing/2014/main" id="{9EABD25D-32F4-4A32-A049-D351D0C1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27" y="1877568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Resultado visual y porcentual por frame.</a:t>
            </a:r>
          </a:p>
        </p:txBody>
      </p:sp>
      <p:sp>
        <p:nvSpPr>
          <p:cNvPr id="15" name="Header divider 32">
            <a:extLst xmlns:a="http://schemas.openxmlformats.org/drawingml/2006/main">
              <a:ext uri="{FF2B5EF4-FFF2-40B4-BE49-F238E27FC236}">
                <a16:creationId xmlns:a16="http://schemas.microsoft.com/office/drawing/2014/main" id="{F8B317E5-95B4-411B-847C-62737A7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0"/>
            <a:ext cx="1744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4CC"/>
          </a:solidFill>
          <a:ln xmlns:a="http://schemas.openxmlformats.org/drawingml/2006/main" w="0">
            <a:solidFill>
              <a:srgbClr val="BFC4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401363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FA9579A-CC97-4AD7-A30F-B4F0D80C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1f9bdd9a0646ca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306809D-5B57-4D2F-94E0-B2160194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afca15d9454f52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35A0E36-044E-49C3-9488-F9CDDE0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1770079"/>
            <a:ext cx="6990308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6) Estado de avance por componente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FB8DC67-09D2-4EC4-B0C1-3DDC186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6158061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Pipeline Granulometría en Tolva 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64E4FD-6C5C-4057-A96A-3814C85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07" y="2515753"/>
            <a:ext cx="12675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555555"/>
                </a:solidFill>
                <a:latin typeface="Calibri (MS)"/>
                <a:ea typeface="Calibri (MS)"/>
                <a:cs typeface="Calibri (MS)"/>
              </a:rPr>
              <a:t>Lo</a:t>
            </a:r>
            <a:r>
              <a:rPr sz="2025">
                <a:solidFill>
                  <a:srgbClr val="555555"/>
                </a:solidFill>
                <a:latin typeface="Calibri (MS)"/>
                <a:ea typeface="Calibri (MS)"/>
                <a:cs typeface="Calibri (MS)"/>
              </a:rPr>
              <a:t> desarrollado hasta ahora y su nivel de madurez.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64DA1B1-69A9-49A3-8149-B59087DC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32" y="3573028"/>
            <a:ext cx="3103245" cy="346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Componente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49C27E9-A505-4D7F-945D-6A33656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0132" y="3573028"/>
            <a:ext cx="2960370" cy="346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Avance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42BF022-9B64-4945-B697-E55E41B1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8582" y="3573028"/>
            <a:ext cx="1674495" cy="346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Estado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9229B6C-585C-4F66-972A-E5DA4718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32" y="4387416"/>
            <a:ext cx="3317558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Datos y frames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DD66F65-FE3A-4059-8E22-CF056612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0132" y="4358841"/>
            <a:ext cx="9103995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Frames de tolva organizados por tipo de carga y listos para generar grillas de análisis.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6359722-6BBF-42E0-9607-8BABEF9E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8582" y="4387416"/>
            <a:ext cx="1817370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007A3D"/>
                </a:solidFill>
                <a:latin typeface="Calibri (MS) Bold"/>
                <a:ea typeface="Calibri (MS) Bold"/>
                <a:cs typeface="Calibri (MS) Bold"/>
              </a:rPr>
              <a:t>Funcional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AC1250B-D0A1-45B1-BFB5-BFB1561C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32" y="5258953"/>
            <a:ext cx="3317558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Segmentación de carga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D306FD4-254F-4951-93EC-0B423F5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0132" y="5230378"/>
            <a:ext cx="9103995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Modelo YOLO identifica la zona de material y genera la máscara de carga.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6344DDB-9088-4720-9073-ADAE648B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8582" y="5258953"/>
            <a:ext cx="1817370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007A3D"/>
                </a:solidFill>
                <a:latin typeface="Calibri (MS) Bold"/>
                <a:ea typeface="Calibri (MS) Bold"/>
                <a:cs typeface="Calibri (MS) Bold"/>
              </a:rPr>
              <a:t>Funcional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1E3576-4826-46A5-95AD-A7518FC3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32" y="6130491"/>
            <a:ext cx="3317558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Analítico granulometría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019CBD1E-06B9-4BE7-B034-6E2C1E1B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0132" y="6101916"/>
            <a:ext cx="9103995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Grilla normalizada y clasificación fino / medio / grueso; salida porcentual por frame.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6158B27-839E-4F61-91CF-2A899FE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8582" y="6130491"/>
            <a:ext cx="1817370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007A3D"/>
                </a:solidFill>
                <a:latin typeface="Calibri (MS) Bold"/>
                <a:ea typeface="Calibri (MS) Bold"/>
                <a:cs typeface="Calibri (MS) Bold"/>
              </a:rPr>
              <a:t>Funcional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693633B2-D6E2-423F-8040-E15285EA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32" y="7002028"/>
            <a:ext cx="3317558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Modelo clasificador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5DF5FAB-0191-46F4-8600-E1C01078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0132" y="6973453"/>
            <a:ext cx="910399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Random Forest como baseline; CNN ResNet18 implementada para comparación.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84AF1DB-E77B-43E0-A7FC-20C175F4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8582" y="7002028"/>
            <a:ext cx="1817370" cy="375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FF6B35"/>
                </a:solidFill>
                <a:latin typeface="Calibri (MS) Bold"/>
                <a:ea typeface="Calibri (MS) Bold"/>
                <a:cs typeface="Calibri (MS) Bold"/>
              </a:rPr>
              <a:t>En evaluación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C7728D02-E9A6-4825-AB12-975AEB2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32" y="7873566"/>
            <a:ext cx="1179463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V</a:t>
            </a: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alidación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2933CFE-D8B9-4327-BF55-7BA17425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0132" y="7844991"/>
            <a:ext cx="910399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Au</a:t>
            </a:r>
            <a:r>
              <a:rPr sz="2025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mentar datos, revisar con experto y consolidar resultado promedio por camión.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49A6A573-2B46-45F0-8255-E329654E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8582" y="7873566"/>
            <a:ext cx="1817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FF6B35"/>
                </a:solidFill>
                <a:latin typeface="Calibri (MS) Bold"/>
                <a:ea typeface="Calibri (MS) Bold"/>
                <a:cs typeface="Calibri (MS) Bold"/>
              </a:rPr>
              <a:t>En</a:t>
            </a:r>
            <a:r>
              <a:rPr sz="2025" b="1">
                <a:solidFill>
                  <a:srgbClr val="FF6B35"/>
                </a:solidFill>
                <a:latin typeface="Calibri (MS) Bold"/>
                <a:ea typeface="Calibri (MS) Bold"/>
                <a:cs typeface="Calibri (MS) Bold"/>
              </a:rPr>
              <a:t> progreso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4463AA64-86F4-4B2E-B81F-0E2A04C6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32" y="8745103"/>
            <a:ext cx="1374279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Full Pipeline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7561EDAD-09BC-4C4A-9848-A81DFEC4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0132" y="8592703"/>
            <a:ext cx="910399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Conexión de todos los componentes, para la entrada los videos y obtención automática de resultados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37CFA9-822F-49C3-B88B-164A3AC8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8582" y="8745103"/>
            <a:ext cx="1817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FF6B35"/>
                </a:solidFill>
                <a:latin typeface="Calibri (MS) Bold"/>
                <a:ea typeface="Calibri (MS) Bold"/>
                <a:cs typeface="Calibri (MS) Bold"/>
              </a:rPr>
              <a:t>Pendiente</a:t>
            </a:r>
          </a:p>
        </p:txBody>
      </p:sp>
    </p:spTree>
    <p:extLst>
      <p:ext uri="{BB962C8B-B14F-4D97-AF65-F5344CB8AC3E}">
        <p14:creationId xmlns:p14="http://schemas.microsoft.com/office/powerpoint/2010/main" val="88773717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A9DF347-4221-4E24-BD62-120921B9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06dd844fbd4da1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2AC4B2E-C65A-45AE-89DD-B3B050C3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23" y="248669"/>
            <a:ext cx="7039719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63"/>
              </a:lnSpc>
              <a:buNone/>
            </a:pPr>
            <a:r>
              <a:rPr sz="3302" b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Costos, beneficios y operación futura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2E378AC-9F1A-46E7-ACA7-03F7A61A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48686"/>
            <a:ext cx="9983380" cy="503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22707" indent="-211353" algn="l">
              <a:lnSpc>
                <a:spcPts val="2349"/>
              </a:lnSpc>
              <a:buChar char="•"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Costos: 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Selección de datos,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etiquetado manual, entrenamiento, revisión de resultados, servidores/GPU, mantención de modelos y actualización del dataset.</a:t>
            </a:r>
          </a:p>
          <a:p xmlns:a="http://schemas.openxmlformats.org/drawingml/2006/main">
            <a:pPr algn="l">
              <a:lnSpc>
                <a:spcPts val="2349"/>
              </a:lnSpc>
              <a:buNone/>
            </a:pPr>
          </a:p>
          <a:p xmlns:a="http://schemas.openxmlformats.org/drawingml/2006/main">
            <a:pPr marL="422707" indent="-211353" algn="l">
              <a:lnSpc>
                <a:spcPts val="2349"/>
              </a:lnSpc>
              <a:buChar char="•"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Beneficios: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Trazabilidad visual, menor dependencia de inspección manual, comparación por camión/turno/evento, detección temprana de condiciones anómalas.</a:t>
            </a:r>
          </a:p>
          <a:p xmlns:a="http://schemas.openxmlformats.org/drawingml/2006/main">
            <a:pPr algn="l">
              <a:lnSpc>
                <a:spcPts val="2349"/>
              </a:lnSpc>
              <a:buNone/>
            </a:pPr>
          </a:p>
          <a:p xmlns:a="http://schemas.openxmlformats.org/drawingml/2006/main">
            <a:pPr marL="422707" indent="-211353" algn="l">
              <a:lnSpc>
                <a:spcPts val="2349"/>
              </a:lnSpc>
              <a:buChar char="•"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Operación futura: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Pipeline offline con ingestión de videos, modelo, analítico, visualización y reporte.</a:t>
            </a:r>
          </a:p>
          <a:p xmlns:a="http://schemas.openxmlformats.org/drawingml/2006/main">
            <a:pPr algn="l">
              <a:lnSpc>
                <a:spcPts val="2349"/>
              </a:lnSpc>
              <a:buNone/>
            </a:pPr>
          </a:p>
          <a:p xmlns:a="http://schemas.openxmlformats.org/drawingml/2006/main">
            <a:pPr marL="422707" indent="-211353" algn="l">
              <a:lnSpc>
                <a:spcPts val="2349"/>
              </a:lnSpc>
              <a:buChar char="•"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Mantención: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Revisión de errores, reentrenamiento periódico, versionado de datasets y registro de métricas.</a:t>
            </a:r>
          </a:p>
          <a:p xmlns:a="http://schemas.openxmlformats.org/drawingml/2006/main">
            <a:pPr algn="l">
              <a:lnSpc>
                <a:spcPts val="2349"/>
              </a:lnSpc>
              <a:buNone/>
            </a:pPr>
          </a:p>
          <a:p xmlns:a="http://schemas.openxmlformats.org/drawingml/2006/main">
            <a:pPr marL="422707" indent="-211353" algn="l">
              <a:lnSpc>
                <a:spcPts val="2349"/>
              </a:lnSpc>
              <a:buChar char="•"/>
            </a:pPr>
            <a:r>
              <a:rPr sz="1957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Usabilidad: </a:t>
            </a:r>
            <a:r>
              <a:rPr sz="1957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Salidas visuales simples para operación: máscara e indicadores.</a:t>
            </a:r>
          </a:p>
          <a:p xmlns:a="http://schemas.openxmlformats.org/drawingml/2006/main">
            <a:pPr algn="l">
              <a:lnSpc>
                <a:spcPts val="2349"/>
              </a:lnSpc>
              <a:buNone/>
            </a:p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7ECF41F-EED2-4124-ACDD-2FB000FE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187" y="1619936"/>
            <a:ext cx="14385317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spcBef>
                <a:spcPts val="0"/>
              </a:spcBef>
              <a:buNone/>
            </a:pP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E</a:t>
            </a: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l val</a:t>
            </a:r>
            <a:r>
              <a:rPr sz="1801">
                <a:solidFill>
                  <a:srgbClr val="585958"/>
                </a:solidFill>
                <a:latin typeface="Roboto"/>
                <a:ea typeface="Roboto"/>
                <a:cs typeface="Roboto"/>
              </a:rPr>
              <a:t>or de la solución está en transformar video existente en indicadores trazables, pero requiere costos de datos, etiquetado, cómputo y mantención del pipeline.</a:t>
            </a:r>
          </a:p>
          <a:p xmlns:a="http://schemas.openxmlformats.org/drawingml/2006/main">
            <a:pPr algn="l">
              <a:lnSpc>
                <a:spcPts val="2161"/>
              </a:lnSpc>
              <a:spcBef>
                <a:spcPts val="0"/>
              </a:spcBef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3C33244-D54E-4A02-A462-57F24FAB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d1fb33e22f418c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0542548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608276F-2EE1-47BC-B13B-5BF06331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95c989524b4b03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BECA78C-CDBA-48F0-9E95-2A4478E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270076"/>
            <a:ext cx="16383000" cy="761154"/>
          </a:xfrm>
          <a:custGeom xmlns:a="http://schemas.openxmlformats.org/drawingml/2006/main">
            <a:rect l="l" t="t" r="r" b="b"/>
            <a:pathLst>
              <a:path w="16383000" h="761154">
                <a:moveTo>
                  <a:pt x="0" y="0"/>
                </a:moveTo>
                <a:lnTo>
                  <a:pt x="16383000" y="0"/>
                </a:lnTo>
                <a:lnTo>
                  <a:pt x="16383000" y="761154"/>
                </a:lnTo>
                <a:lnTo>
                  <a:pt x="0" y="7611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0b8506c690e4954">
              <a:extLst>
                <a:ext uri="{96DAC541-7B7A-43D3-8B79-37D633B846F1}">
                  <asvg:svgBlip xmlns:asvg="http://schemas.microsoft.com/office/drawing/2016/SVG/main" r:embed="R385c44ac8ccc4be8"/>
                </a:ext>
              </a:extLst>
            </a:blip>
            <a:stretch>
              <a:fillRect l="0" t="-121461" r="0" b="0"/>
            </a:stretch>
          </a:blipFill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AA5294B-8206-4FCB-BDEB-3BAAB59F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209" y="3534910"/>
            <a:ext cx="1569689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92F56"/>
            </a:solidFill>
            <a:prstDash val="lgDash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41E65B9-DC31-4B67-AFAF-32B4C0E0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8764848"/>
            <a:ext cx="2982731" cy="341658"/>
          </a:xfrm>
          <a:custGeom xmlns:a="http://schemas.openxmlformats.org/drawingml/2006/main">
            <a:rect l="l" t="t" r="r" b="b"/>
            <a:pathLst>
              <a:path w="2982731" h="341658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13296a221b44e4">
              <a:alphaModFix amt="30000"/>
            </a:blip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091C8B9-2D50-4DA9-BAED-5B1A7F0C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8857" y="8764848"/>
            <a:ext cx="2982731" cy="341658"/>
          </a:xfrm>
          <a:custGeom xmlns:a="http://schemas.openxmlformats.org/drawingml/2006/main">
            <a:rect l="l" t="t" r="r" b="b"/>
            <a:pathLst>
              <a:path w="2982731" h="341658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13296a221b44e4">
              <a:alphaModFix amt="30000"/>
            </a:blip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90131E1-A8EF-460E-8588-8E501C0A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5214" y="8764848"/>
            <a:ext cx="2982731" cy="341658"/>
          </a:xfrm>
          <a:custGeom xmlns:a="http://schemas.openxmlformats.org/drawingml/2006/main">
            <a:rect l="l" t="t" r="r" b="b"/>
            <a:pathLst>
              <a:path w="2982731" h="341658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13296a221b44e4">
              <a:alphaModFix amt="30000"/>
            </a:blip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847470E-E300-4B7A-ABEF-B2114FC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571" y="8764848"/>
            <a:ext cx="2982731" cy="341658"/>
          </a:xfrm>
          <a:custGeom xmlns:a="http://schemas.openxmlformats.org/drawingml/2006/main">
            <a:rect l="l" t="t" r="r" b="b"/>
            <a:pathLst>
              <a:path w="2982731" h="341658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13296a221b44e4">
              <a:alphaModFix amt="30000"/>
            </a:blip>
            <a:stretch>
              <a:fillRect l="0" t="0" r="0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1B178F89-6D39-495E-AA84-FFF9D2CC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7927" y="8764848"/>
            <a:ext cx="2982731" cy="341658"/>
          </a:xfrm>
          <a:custGeom xmlns:a="http://schemas.openxmlformats.org/drawingml/2006/main">
            <a:rect l="l" t="t" r="r" b="b"/>
            <a:pathLst>
              <a:path w="2982731" h="341658">
                <a:moveTo>
                  <a:pt x="0" y="0"/>
                </a:moveTo>
                <a:lnTo>
                  <a:pt x="2982732" y="0"/>
                </a:lnTo>
                <a:lnTo>
                  <a:pt x="2982732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13296a221b44e4">
              <a:alphaModFix amt="30000"/>
            </a:blip>
            <a:stretch>
              <a:fillRect l="0" t="0" r="0" b="0"/>
            </a:stretch>
          </a:blipFill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DFD202D-2756-443F-A856-B85D4BC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3866" y="749618"/>
            <a:ext cx="476250" cy="476250"/>
          </a:xfrm>
          <a:custGeom xmlns:a="http://schemas.openxmlformats.org/drawingml/2006/main"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ffbe2b5c6541df">
              <a:extLst>
                <a:ext uri="{96DAC541-7B7A-43D3-8B79-37D633B846F1}">
                  <asvg:svgBlip xmlns:asvg="http://schemas.microsoft.com/office/drawing/2016/SVG/main" r:embed="R32b3c71026d444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9E834097-2B67-4F48-A626-77BCF25C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119" y="3296785"/>
            <a:ext cx="423430" cy="476250"/>
          </a:xfrm>
          <a:custGeom xmlns:a="http://schemas.openxmlformats.org/drawingml/2006/main">
            <a:rect l="l" t="t" r="r" b="b"/>
            <a:pathLst>
              <a:path w="423430" h="476250">
                <a:moveTo>
                  <a:pt x="0" y="0"/>
                </a:moveTo>
                <a:lnTo>
                  <a:pt x="423430" y="0"/>
                </a:lnTo>
                <a:lnTo>
                  <a:pt x="42343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2864b98a4048bb">
              <a:extLst>
                <a:ext uri="{96DAC541-7B7A-43D3-8B79-37D633B846F1}">
                  <asvg:svgBlip xmlns:asvg="http://schemas.microsoft.com/office/drawing/2016/SVG/main" r:embed="R4e4ea1e9a63945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F407D1C-C1F7-4043-A0F5-0233E1FF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4896" y="3296785"/>
            <a:ext cx="377536" cy="476250"/>
          </a:xfrm>
          <a:custGeom xmlns:a="http://schemas.openxmlformats.org/drawingml/2006/main">
            <a:rect l="l" t="t" r="r" b="b"/>
            <a:pathLst>
              <a:path w="377536" h="476250">
                <a:moveTo>
                  <a:pt x="0" y="0"/>
                </a:moveTo>
                <a:lnTo>
                  <a:pt x="377537" y="0"/>
                </a:lnTo>
                <a:lnTo>
                  <a:pt x="377537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fab6d0e49d4eff">
              <a:extLst>
                <a:ext uri="{96DAC541-7B7A-43D3-8B79-37D633B846F1}">
                  <asvg:svgBlip xmlns:asvg="http://schemas.microsoft.com/office/drawing/2016/SVG/main" r:embed="R26ffe953076a4ae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1DCE122-C64B-45B6-8BB0-127C11C6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4678" y="3287967"/>
            <a:ext cx="467759" cy="467759"/>
          </a:xfrm>
          <a:custGeom xmlns:a="http://schemas.openxmlformats.org/drawingml/2006/main">
            <a:rect l="l" t="t" r="r" b="b"/>
            <a:pathLst>
              <a:path w="467759" h="467759">
                <a:moveTo>
                  <a:pt x="0" y="0"/>
                </a:moveTo>
                <a:lnTo>
                  <a:pt x="467759" y="0"/>
                </a:lnTo>
                <a:lnTo>
                  <a:pt x="467759" y="467759"/>
                </a:lnTo>
                <a:lnTo>
                  <a:pt x="0" y="4677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1841b5f8ae43ff">
              <a:extLst>
                <a:ext uri="{96DAC541-7B7A-43D3-8B79-37D633B846F1}">
                  <asvg:svgBlip xmlns:asvg="http://schemas.microsoft.com/office/drawing/2016/SVG/main" r:embed="Rd43308ffe2b64f2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CFDCC97-F9A3-4D9A-BAD4-33B1DC17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8356" y="3287967"/>
            <a:ext cx="597139" cy="402797"/>
          </a:xfrm>
          <a:custGeom xmlns:a="http://schemas.openxmlformats.org/drawingml/2006/main">
            <a:rect l="l" t="t" r="r" b="b"/>
            <a:pathLst>
              <a:path w="597139" h="402797">
                <a:moveTo>
                  <a:pt x="0" y="0"/>
                </a:moveTo>
                <a:lnTo>
                  <a:pt x="597139" y="0"/>
                </a:lnTo>
                <a:lnTo>
                  <a:pt x="597139" y="402797"/>
                </a:lnTo>
                <a:lnTo>
                  <a:pt x="0" y="40279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9b1ccf7f024c64">
              <a:extLst>
                <a:ext uri="{96DAC541-7B7A-43D3-8B79-37D633B846F1}">
                  <asvg:svgBlip xmlns:asvg="http://schemas.microsoft.com/office/drawing/2016/SVG/main" r:embed="R2846a2378de143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B62D6ED-5040-4531-82A6-11BF52FB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5932" y="3248798"/>
            <a:ext cx="488509" cy="546097"/>
          </a:xfrm>
          <a:custGeom xmlns:a="http://schemas.openxmlformats.org/drawingml/2006/main">
            <a:rect l="l" t="t" r="r" b="b"/>
            <a:pathLst>
              <a:path w="488509" h="546097">
                <a:moveTo>
                  <a:pt x="0" y="0"/>
                </a:moveTo>
                <a:lnTo>
                  <a:pt x="488509" y="0"/>
                </a:lnTo>
                <a:lnTo>
                  <a:pt x="488509" y="546097"/>
                </a:lnTo>
                <a:lnTo>
                  <a:pt x="0" y="54609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54649b5f014385">
              <a:extLst>
                <a:ext uri="{96DAC541-7B7A-43D3-8B79-37D633B846F1}">
                  <asvg:svgBlip xmlns:asvg="http://schemas.microsoft.com/office/drawing/2016/SVG/main" r:embed="R2e7e07f5fc3a4c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CE63C6C4-349D-4E9E-8BB8-82ACD07D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209" y="6333213"/>
            <a:ext cx="2373626" cy="2750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Identificación de cámaras y datos disponibles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Priorización de variables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De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finición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 de métricas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Periodo: </a:t>
            </a:r>
            <a:r>
              <a:rPr sz="1599" i="1" u="none">
                <a:solidFill>
                  <a:srgbClr val="000000"/>
                </a:solidFill>
                <a:latin typeface="TT Hoves Italics"/>
                <a:ea typeface="TT Hoves Italics"/>
                <a:cs typeface="TT Hoves Italics"/>
              </a:rPr>
              <a:t>Marzo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8DD1A86-0171-4B8C-9632-1D7ED94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10" y="8717941"/>
            <a:ext cx="2037484" cy="2037484"/>
          </a:xfrm>
          <a:custGeom xmlns:a="http://schemas.openxmlformats.org/drawingml/2006/main">
            <a:rect l="l" t="t" r="r" b="b"/>
            <a:pathLst>
              <a:path w="2037484" h="2037484">
                <a:moveTo>
                  <a:pt x="0" y="0"/>
                </a:moveTo>
                <a:lnTo>
                  <a:pt x="2037484" y="0"/>
                </a:lnTo>
                <a:lnTo>
                  <a:pt x="2037484" y="2037483"/>
                </a:lnTo>
                <a:lnTo>
                  <a:pt x="0" y="20374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65d48c673b4d96"/>
            <a:stretch>
              <a:fillRect l="0" t="0" r="0" b="0"/>
            </a:stretch>
          </a:blipFill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AB48197-302B-478A-B6C7-68C2E78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4455" y="9025067"/>
            <a:ext cx="711616" cy="711616"/>
          </a:xfrm>
          <a:custGeom xmlns:a="http://schemas.openxmlformats.org/drawingml/2006/main">
            <a:rect l="l" t="t" r="r" b="b"/>
            <a:pathLst>
              <a:path w="711616" h="711616">
                <a:moveTo>
                  <a:pt x="0" y="0"/>
                </a:moveTo>
                <a:lnTo>
                  <a:pt x="711616" y="0"/>
                </a:lnTo>
                <a:lnTo>
                  <a:pt x="711616" y="711615"/>
                </a:lnTo>
                <a:lnTo>
                  <a:pt x="0" y="7116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92b5014f4a4dc0"/>
            <a:stretch>
              <a:fillRect l="0" t="0" r="0" b="0"/>
            </a:stretch>
          </a:blipFill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665396D-D174-4D12-989F-A53DB3A2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369" y="9025067"/>
            <a:ext cx="711616" cy="711616"/>
          </a:xfrm>
          <a:custGeom xmlns:a="http://schemas.openxmlformats.org/drawingml/2006/main">
            <a:rect l="l" t="t" r="r" b="b"/>
            <a:pathLst>
              <a:path w="711616" h="711616">
                <a:moveTo>
                  <a:pt x="0" y="0"/>
                </a:moveTo>
                <a:lnTo>
                  <a:pt x="711615" y="0"/>
                </a:lnTo>
                <a:lnTo>
                  <a:pt x="711615" y="711615"/>
                </a:lnTo>
                <a:lnTo>
                  <a:pt x="0" y="7116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5624b5af8e4f9c"/>
            <a:stretch>
              <a:fillRect l="0" t="0" r="0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0B891EE4-82FC-44D3-9AA4-9CCCA8D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9536" y="1623060"/>
            <a:ext cx="8568928" cy="999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659"/>
              </a:lnSpc>
              <a:spcBef>
                <a:spcPts val="0"/>
              </a:spcBef>
              <a:buNone/>
            </a:pPr>
            <a:r>
              <a:rPr sz="18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Des</a:t>
            </a:r>
            <a:r>
              <a:rPr sz="18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arrollo progres</a:t>
            </a:r>
            <a:r>
              <a:rPr sz="18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ivo del proyecto desde la definición de variables hasta la validación del piloto.</a:t>
            </a:r>
          </a:p>
          <a:p xmlns:a="http://schemas.openxmlformats.org/drawingml/2006/main">
            <a:pPr marL="0" indent="0" algn="ctr">
              <a:lnSpc>
                <a:spcPts val="2659"/>
              </a:lnSpc>
              <a:spcBef>
                <a:spcPts val="0"/>
              </a:spcBef>
              <a:buNone/>
            </a:pP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6A5EC257-D169-4CDC-B41C-386968ED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9536" y="876300"/>
            <a:ext cx="8568928" cy="622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39"/>
              </a:lnSpc>
              <a:spcBef>
                <a:spcPts val="0"/>
              </a:spcBef>
              <a:buNone/>
            </a:pPr>
            <a:r>
              <a:rPr sz="3599" b="1">
                <a:solidFill>
                  <a:srgbClr val="000000"/>
                </a:solidFill>
                <a:latin typeface="TT Hoves Bold"/>
                <a:ea typeface="TT Hoves Bold"/>
                <a:cs typeface="TT Hoves Bold"/>
              </a:rPr>
              <a:t>ROADMAP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4C541B7F-DE41-4B10-A011-B3868825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8813" y="4301085"/>
            <a:ext cx="2110463" cy="622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39"/>
              </a:lnSpc>
              <a:spcBef>
                <a:spcPts val="0"/>
              </a:spcBef>
              <a:buNone/>
            </a:pPr>
            <a:r>
              <a:rPr sz="3599" b="1">
                <a:solidFill>
                  <a:srgbClr val="004AAD"/>
                </a:solidFill>
                <a:latin typeface="TT Hoves Bold"/>
                <a:ea typeface="TT Hoves Bold"/>
                <a:cs typeface="TT Hoves Bold"/>
              </a:rPr>
              <a:t>Etapa 1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2ACB25DC-207D-468A-886F-2A0E6120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5146" y="4301085"/>
            <a:ext cx="2110463" cy="622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39"/>
              </a:lnSpc>
              <a:spcBef>
                <a:spcPts val="0"/>
              </a:spcBef>
              <a:buNone/>
            </a:pPr>
            <a:r>
              <a:rPr sz="3599" b="1">
                <a:solidFill>
                  <a:srgbClr val="004AAD"/>
                </a:solidFill>
                <a:latin typeface="TT Hoves Bold"/>
                <a:ea typeface="TT Hoves Bold"/>
                <a:cs typeface="TT Hoves Bold"/>
              </a:rPr>
              <a:t>Etapa 2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A49420BB-BD45-4617-98C2-10956022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9" y="4301085"/>
            <a:ext cx="2110463" cy="622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39"/>
              </a:lnSpc>
              <a:spcBef>
                <a:spcPts val="0"/>
              </a:spcBef>
              <a:buNone/>
            </a:pPr>
            <a:r>
              <a:rPr sz="3599" b="1">
                <a:solidFill>
                  <a:srgbClr val="004AAD"/>
                </a:solidFill>
                <a:latin typeface="TT Hoves Bold"/>
                <a:ea typeface="TT Hoves Bold"/>
                <a:cs typeface="TT Hoves Bold"/>
              </a:rPr>
              <a:t>Etapa 3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E7E87C3E-06EF-49FD-B680-72D2A687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7812" y="4301085"/>
            <a:ext cx="2110463" cy="622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39"/>
              </a:lnSpc>
              <a:spcBef>
                <a:spcPts val="0"/>
              </a:spcBef>
              <a:buNone/>
            </a:pPr>
            <a:r>
              <a:rPr sz="3599" b="1">
                <a:solidFill>
                  <a:srgbClr val="004AAD"/>
                </a:solidFill>
                <a:latin typeface="TT Hoves Bold"/>
                <a:ea typeface="TT Hoves Bold"/>
                <a:cs typeface="TT Hoves Bold"/>
              </a:rPr>
              <a:t>Etapa 4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F8C1E9-E761-425C-AE77-52E6CB3B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4145" y="4301085"/>
            <a:ext cx="2110463" cy="622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39"/>
              </a:lnSpc>
              <a:spcBef>
                <a:spcPts val="0"/>
              </a:spcBef>
              <a:buNone/>
            </a:pPr>
            <a:r>
              <a:rPr sz="3599" b="1">
                <a:solidFill>
                  <a:srgbClr val="004AAD"/>
                </a:solidFill>
                <a:latin typeface="TT Hoves Bold"/>
                <a:ea typeface="TT Hoves Bold"/>
                <a:cs typeface="TT Hoves Bold"/>
              </a:rPr>
              <a:t>Etapa 5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45D580B2-B6EF-4504-8805-85C5E59C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246" y="5583680"/>
            <a:ext cx="2007484" cy="630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520"/>
              </a:lnSpc>
              <a:spcBef>
                <a:spcPts val="0"/>
              </a:spcBef>
              <a:buNone/>
            </a:pPr>
            <a:r>
              <a:rPr sz="18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</a:rPr>
              <a:t>Definición de alcance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811A047F-C27E-47E8-8491-456E3B63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3565" y="6357109"/>
            <a:ext cx="2373626" cy="2750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Recolección y organización de datos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Selección de escenarios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Etiquetado inici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al y estructuraci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ón del dataset base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Periodo: Abril - Mayo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AD0C5866-A633-4127-8E51-AA0419B2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1173" y="5583680"/>
            <a:ext cx="2007484" cy="630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520"/>
              </a:lnSpc>
              <a:spcBef>
                <a:spcPts val="0"/>
              </a:spcBef>
              <a:buNone/>
            </a:pPr>
            <a:r>
              <a:rPr sz="18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</a:rPr>
              <a:t>Construcción de dataset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3F92CB50-F33D-4ED2-97CB-21681E12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8918" y="6333213"/>
            <a:ext cx="2373626" cy="2750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Ajuste de parámetros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Entrenamiento de modelos base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Obtención de primeras métricas y baselines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Periodo: Mayo - Junio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69C13F58-779C-4213-AEB9-AA00C6AE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4954" y="5583680"/>
            <a:ext cx="2007484" cy="630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20"/>
              </a:lnSpc>
              <a:spcBef>
                <a:spcPts val="0"/>
              </a:spcBef>
              <a:buNone/>
            </a:pPr>
            <a:r>
              <a:rPr sz="18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</a:rPr>
              <a:t>Desarrollo de modelos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7AC4930A-A390-4D26-B5D4-FF1EE53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8585" y="6333213"/>
            <a:ext cx="2373626" cy="2750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Análisis de errores y mejora del dataset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Ajuste y comparación de modelos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Validación con casos represen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tat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i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vos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 de operación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Periodo: Junio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C32EB114-21F3-4B32-91D0-0C1DC6E9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4621" y="5583680"/>
            <a:ext cx="2007484" cy="630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20"/>
              </a:lnSpc>
              <a:spcBef>
                <a:spcPts val="0"/>
              </a:spcBef>
              <a:buNone/>
            </a:pPr>
            <a:r>
              <a:rPr sz="18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</a:rPr>
              <a:t>Iteración y validación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809D69F1-F55A-4F53-9DCE-37B99A30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5889" y="6333213"/>
            <a:ext cx="2373626" cy="2473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Mejora de modelos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Generación de indicadores y v</a:t>
            </a: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isualizaciones</a:t>
            </a:r>
          </a:p>
          <a:p xmlns:a="http://schemas.openxmlformats.org/drawingml/2006/main">
            <a:pPr marL="345439" indent="-172720" algn="l">
              <a:lnSpc>
                <a:spcPts val="2239"/>
              </a:lnSpc>
              <a:buChar char="•"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Evaluación de resultados </a:t>
            </a: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</a:p>
          <a:p xmlns:a="http://schemas.openxmlformats.org/drawingml/2006/main">
            <a:pPr algn="l">
              <a:lnSpc>
                <a:spcPts val="2239"/>
              </a:lnSpc>
              <a:buNone/>
            </a:pPr>
            <a:r>
              <a:rPr sz="1599" u="none">
                <a:solidFill>
                  <a:srgbClr val="000000"/>
                </a:solidFill>
                <a:latin typeface="TT Hoves"/>
                <a:ea typeface="TT Hoves"/>
                <a:cs typeface="TT Hoves"/>
              </a:rPr>
              <a:t>Periodo: Julio</a:t>
            </a:r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87A2C256-C8BA-489F-8DCB-2E3001BD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1925" y="5583680"/>
            <a:ext cx="2007484" cy="630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20"/>
              </a:lnSpc>
              <a:spcBef>
                <a:spcPts val="0"/>
              </a:spcBef>
              <a:buNone/>
            </a:pPr>
            <a:r>
              <a:rPr sz="18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</a:rPr>
              <a:t>Piloto y proyección</a:t>
            </a:r>
          </a:p>
        </p:txBody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7AF43622-D8D0-4E21-9BC6-58BEB8AD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9107" y="9025067"/>
            <a:ext cx="711616" cy="711616"/>
          </a:xfrm>
          <a:custGeom xmlns:a="http://schemas.openxmlformats.org/drawingml/2006/main">
            <a:rect l="l" t="t" r="r" b="b"/>
            <a:pathLst>
              <a:path w="711616" h="711616">
                <a:moveTo>
                  <a:pt x="0" y="0"/>
                </a:moveTo>
                <a:lnTo>
                  <a:pt x="711616" y="0"/>
                </a:lnTo>
                <a:lnTo>
                  <a:pt x="711616" y="711615"/>
                </a:lnTo>
                <a:lnTo>
                  <a:pt x="0" y="7116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5624b5af8e4f9c"/>
            <a:stretch>
              <a:fillRect l="0" t="0" r="0" b="0"/>
            </a:stretch>
          </a:blipFill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48CD8435-8BB4-4FDE-8E65-349C763E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903" y="9025067"/>
            <a:ext cx="711616" cy="711616"/>
          </a:xfrm>
          <a:custGeom xmlns:a="http://schemas.openxmlformats.org/drawingml/2006/main">
            <a:rect l="l" t="t" r="r" b="b"/>
            <a:pathLst>
              <a:path w="711616" h="711616">
                <a:moveTo>
                  <a:pt x="0" y="0"/>
                </a:moveTo>
                <a:lnTo>
                  <a:pt x="711616" y="0"/>
                </a:lnTo>
                <a:lnTo>
                  <a:pt x="711616" y="711615"/>
                </a:lnTo>
                <a:lnTo>
                  <a:pt x="0" y="7116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5624b5af8e4f9c"/>
            <a:stretch>
              <a:fillRect l="0" t="0" r="0" b="0"/>
            </a:stretch>
          </a:blipFill>
        </p:spPr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4CD8B12C-AD64-4840-ABBB-5EB54FA5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0125" y="9083398"/>
            <a:ext cx="711616" cy="711616"/>
          </a:xfrm>
          <a:custGeom xmlns:a="http://schemas.openxmlformats.org/drawingml/2006/main">
            <a:rect l="l" t="t" r="r" b="b"/>
            <a:pathLst>
              <a:path w="711616" h="711616">
                <a:moveTo>
                  <a:pt x="0" y="0"/>
                </a:moveTo>
                <a:lnTo>
                  <a:pt x="711615" y="0"/>
                </a:lnTo>
                <a:lnTo>
                  <a:pt x="711615" y="711616"/>
                </a:lnTo>
                <a:lnTo>
                  <a:pt x="0" y="7116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5624b5af8e4f9c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9582419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2026-06-26T05:34:51.5290000Z</dcterms:created>
  <dcterms:modified xsi:type="dcterms:W3CDTF">2026-06-26T05:34:51.5290000Z</dcterms:modified>
</coreProperties>
</file>